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08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99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04/17/2026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56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04/17/2026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14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04/17/2026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501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04/17/2026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5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04/17/2026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80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04/17/2026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85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22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1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04/17/2026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55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JAVA%20-%20time%20complexity%20Logics.xls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White arrows painted on the asphalt">
            <a:extLst>
              <a:ext uri="{FF2B5EF4-FFF2-40B4-BE49-F238E27FC236}">
                <a16:creationId xmlns:a16="http://schemas.microsoft.com/office/drawing/2014/main" id="{1C493040-16E2-A013-018F-C9ED1B32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9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60000">
                <a:schemeClr val="bg1">
                  <a:alpha val="3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C51610-2ADD-422E-1A1A-8419C6E1F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255830"/>
            <a:ext cx="8138160" cy="1061981"/>
          </a:xfrm>
        </p:spPr>
        <p:txBody>
          <a:bodyPr anchor="t">
            <a:normAutofit/>
          </a:bodyPr>
          <a:lstStyle/>
          <a:p>
            <a:pPr algn="l"/>
            <a:r>
              <a:rPr lang="en-IN" sz="4400"/>
              <a:t>"Two Pointers"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6ACC47-E033-6EF6-1BE5-B55272C3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8199" y="255831"/>
            <a:ext cx="3538728" cy="960120"/>
          </a:xfrm>
        </p:spPr>
        <p:txBody>
          <a:bodyPr anchor="t">
            <a:normAutofit/>
          </a:bodyPr>
          <a:lstStyle/>
          <a:p>
            <a:pPr algn="r"/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72341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60DB-396B-DD22-43DE-DD93DCF2F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21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6B25B0-FA6A-0C45-B049-129914637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353389"/>
              </p:ext>
            </p:extLst>
          </p:nvPr>
        </p:nvGraphicFramePr>
        <p:xfrm>
          <a:off x="612648" y="2718978"/>
          <a:ext cx="10653713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1959">
                  <a:extLst>
                    <a:ext uri="{9D8B030D-6E8A-4147-A177-3AD203B41FA5}">
                      <a16:colId xmlns:a16="http://schemas.microsoft.com/office/drawing/2014/main" val="873570853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4160457793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4209922886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4071798261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3867277462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4254273720"/>
                    </a:ext>
                  </a:extLst>
                </a:gridCol>
                <a:gridCol w="1521959">
                  <a:extLst>
                    <a:ext uri="{9D8B030D-6E8A-4147-A177-3AD203B41FA5}">
                      <a16:colId xmlns:a16="http://schemas.microsoft.com/office/drawing/2014/main" val="65347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817509"/>
                  </a:ext>
                </a:extLst>
              </a:tr>
            </a:tbl>
          </a:graphicData>
        </a:graphic>
      </p:graphicFrame>
      <p:sp>
        <p:nvSpPr>
          <p:cNvPr id="5" name="Arrow: Up 4">
            <a:extLst>
              <a:ext uri="{FF2B5EF4-FFF2-40B4-BE49-F238E27FC236}">
                <a16:creationId xmlns:a16="http://schemas.microsoft.com/office/drawing/2014/main" id="{50B5D1DD-29F0-F8E4-5CBD-B6E903DE4BAD}"/>
              </a:ext>
            </a:extLst>
          </p:cNvPr>
          <p:cNvSpPr/>
          <p:nvPr/>
        </p:nvSpPr>
        <p:spPr>
          <a:xfrm>
            <a:off x="1071715" y="3429000"/>
            <a:ext cx="521110" cy="72758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DA0AFE22-7D69-6B77-1739-92E1E9A93B1F}"/>
              </a:ext>
            </a:extLst>
          </p:cNvPr>
          <p:cNvSpPr/>
          <p:nvPr/>
        </p:nvSpPr>
        <p:spPr>
          <a:xfrm>
            <a:off x="10210799" y="3429000"/>
            <a:ext cx="521110" cy="72758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F113EA-DF02-D924-5261-EA937ADEC2E2}"/>
              </a:ext>
            </a:extLst>
          </p:cNvPr>
          <p:cNvSpPr txBox="1"/>
          <p:nvPr/>
        </p:nvSpPr>
        <p:spPr>
          <a:xfrm>
            <a:off x="1162993" y="4446328"/>
            <a:ext cx="338554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492E5-4E2A-D740-4EFE-439674C1130A}"/>
              </a:ext>
            </a:extLst>
          </p:cNvPr>
          <p:cNvSpPr txBox="1"/>
          <p:nvPr/>
        </p:nvSpPr>
        <p:spPr>
          <a:xfrm>
            <a:off x="10302077" y="4446328"/>
            <a:ext cx="32893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288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6B4E7-4F53-987A-2118-64A1F345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, 2 sum problem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537E-B8A3-3A24-8B78-90FA48A33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CD80F-4FF4-95CE-9B1B-21E1602EFE86}"/>
              </a:ext>
            </a:extLst>
          </p:cNvPr>
          <p:cNvSpPr txBox="1"/>
          <p:nvPr/>
        </p:nvSpPr>
        <p:spPr>
          <a:xfrm>
            <a:off x="707923" y="21849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nums</a:t>
            </a:r>
            <a:r>
              <a:rPr lang="en-IN" dirty="0"/>
              <a:t> = [10, 20, 30]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C3580-E7DB-663B-C4C4-2010A341B916}"/>
              </a:ext>
            </a:extLst>
          </p:cNvPr>
          <p:cNvSpPr txBox="1"/>
          <p:nvPr/>
        </p:nvSpPr>
        <p:spPr>
          <a:xfrm>
            <a:off x="707923" y="32352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Index:   0    1    2</a:t>
            </a:r>
          </a:p>
          <a:p>
            <a:r>
              <a:rPr lang="en-IN" dirty="0"/>
              <a:t>Value:  10   20   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9F9B8-32B8-999F-8B03-F55D6823D817}"/>
              </a:ext>
            </a:extLst>
          </p:cNvPr>
          <p:cNvSpPr txBox="1"/>
          <p:nvPr/>
        </p:nvSpPr>
        <p:spPr>
          <a:xfrm>
            <a:off x="612647" y="47170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insert(0, x)</a:t>
            </a:r>
          </a:p>
          <a:p>
            <a:r>
              <a:rPr lang="en-IN" dirty="0"/>
              <a:t>pop(0)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DD57F9-64F8-72FE-EC13-3A0B8184A8F8}"/>
              </a:ext>
            </a:extLst>
          </p:cNvPr>
          <p:cNvSpPr txBox="1"/>
          <p:nvPr/>
        </p:nvSpPr>
        <p:spPr>
          <a:xfrm>
            <a:off x="2143433" y="465545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→</a:t>
            </a:r>
            <a:r>
              <a:rPr lang="en-IN" dirty="0"/>
              <a:t>  O(n)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E52D02-051E-36BF-286E-91F28BD8DE4E}"/>
              </a:ext>
            </a:extLst>
          </p:cNvPr>
          <p:cNvSpPr txBox="1"/>
          <p:nvPr/>
        </p:nvSpPr>
        <p:spPr>
          <a:xfrm>
            <a:off x="5939436" y="1907909"/>
            <a:ext cx="49252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arr</a:t>
            </a:r>
            <a:r>
              <a:rPr lang="en-IN" dirty="0"/>
              <a:t> = [1,2,4,6,10]</a:t>
            </a:r>
          </a:p>
          <a:p>
            <a:r>
              <a:rPr lang="en-IN" dirty="0"/>
              <a:t>target = 8</a:t>
            </a:r>
          </a:p>
          <a:p>
            <a:endParaRPr lang="en-IN" dirty="0"/>
          </a:p>
          <a:p>
            <a:r>
              <a:rPr lang="en-IN" dirty="0"/>
              <a:t>→ Find pair summing to target.</a:t>
            </a:r>
          </a:p>
          <a:p>
            <a:r>
              <a:rPr lang="en-IN" dirty="0"/>
              <a:t>→ Click to see code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F6004-84A2-4765-30E1-B8158E500B3F}"/>
              </a:ext>
            </a:extLst>
          </p:cNvPr>
          <p:cNvSpPr txBox="1"/>
          <p:nvPr/>
        </p:nvSpPr>
        <p:spPr>
          <a:xfrm>
            <a:off x="648929" y="1494656"/>
            <a:ext cx="4925208" cy="452431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 err="1"/>
              <a:t>arr</a:t>
            </a:r>
            <a:r>
              <a:rPr lang="en-IN" dirty="0"/>
              <a:t> = [1, 2, 4, 6, 10]</a:t>
            </a:r>
          </a:p>
          <a:p>
            <a:r>
              <a:rPr lang="en-IN" dirty="0"/>
              <a:t>target = 8</a:t>
            </a:r>
          </a:p>
          <a:p>
            <a:endParaRPr lang="en-IN" dirty="0"/>
          </a:p>
          <a:p>
            <a:r>
              <a:rPr lang="en-IN" dirty="0"/>
              <a:t>left = 0</a:t>
            </a:r>
          </a:p>
          <a:p>
            <a:r>
              <a:rPr lang="en-IN" dirty="0"/>
              <a:t>right = </a:t>
            </a:r>
            <a:r>
              <a:rPr lang="en-IN" dirty="0" err="1"/>
              <a:t>len</a:t>
            </a:r>
            <a:r>
              <a:rPr lang="en-IN" dirty="0"/>
              <a:t>(</a:t>
            </a:r>
            <a:r>
              <a:rPr lang="en-IN" dirty="0" err="1"/>
              <a:t>arr</a:t>
            </a:r>
            <a:r>
              <a:rPr lang="en-IN" dirty="0"/>
              <a:t>) - 1</a:t>
            </a:r>
          </a:p>
          <a:p>
            <a:endParaRPr lang="en-IN" dirty="0"/>
          </a:p>
          <a:p>
            <a:r>
              <a:rPr lang="en-IN" dirty="0"/>
              <a:t>while left &lt; right:</a:t>
            </a:r>
          </a:p>
          <a:p>
            <a:r>
              <a:rPr lang="en-IN" dirty="0"/>
              <a:t>    </a:t>
            </a:r>
            <a:r>
              <a:rPr lang="en-IN" dirty="0" err="1"/>
              <a:t>current_sum</a:t>
            </a:r>
            <a:r>
              <a:rPr lang="en-IN" dirty="0"/>
              <a:t> = </a:t>
            </a:r>
            <a:r>
              <a:rPr lang="en-IN" dirty="0" err="1"/>
              <a:t>arr</a:t>
            </a:r>
            <a:r>
              <a:rPr lang="en-IN" dirty="0"/>
              <a:t>[left] + </a:t>
            </a:r>
            <a:r>
              <a:rPr lang="en-IN" dirty="0" err="1"/>
              <a:t>arr</a:t>
            </a:r>
            <a:r>
              <a:rPr lang="en-IN" dirty="0"/>
              <a:t>[right]</a:t>
            </a:r>
          </a:p>
          <a:p>
            <a:endParaRPr lang="en-IN" dirty="0"/>
          </a:p>
          <a:p>
            <a:r>
              <a:rPr lang="en-IN" dirty="0"/>
              <a:t>    if </a:t>
            </a:r>
            <a:r>
              <a:rPr lang="en-IN" dirty="0" err="1"/>
              <a:t>current_sum</a:t>
            </a:r>
            <a:r>
              <a:rPr lang="en-IN" dirty="0"/>
              <a:t> == target:</a:t>
            </a:r>
          </a:p>
          <a:p>
            <a:r>
              <a:rPr lang="en-IN" dirty="0"/>
              <a:t>        print(</a:t>
            </a:r>
            <a:r>
              <a:rPr lang="en-IN" dirty="0" err="1"/>
              <a:t>arr</a:t>
            </a:r>
            <a:r>
              <a:rPr lang="en-IN" dirty="0"/>
              <a:t>[left], </a:t>
            </a:r>
            <a:r>
              <a:rPr lang="en-IN" dirty="0" err="1"/>
              <a:t>arr</a:t>
            </a:r>
            <a:r>
              <a:rPr lang="en-IN" dirty="0"/>
              <a:t>[right])</a:t>
            </a:r>
          </a:p>
          <a:p>
            <a:r>
              <a:rPr lang="en-IN" dirty="0"/>
              <a:t>        break</a:t>
            </a:r>
          </a:p>
          <a:p>
            <a:r>
              <a:rPr lang="en-IN" dirty="0"/>
              <a:t>    </a:t>
            </a:r>
            <a:r>
              <a:rPr lang="en-IN" dirty="0" err="1"/>
              <a:t>elif</a:t>
            </a:r>
            <a:r>
              <a:rPr lang="en-IN" dirty="0"/>
              <a:t> </a:t>
            </a:r>
            <a:r>
              <a:rPr lang="en-IN" dirty="0" err="1"/>
              <a:t>current_sum</a:t>
            </a:r>
            <a:r>
              <a:rPr lang="en-IN" dirty="0"/>
              <a:t> &lt; target:</a:t>
            </a:r>
          </a:p>
          <a:p>
            <a:r>
              <a:rPr lang="en-IN" dirty="0"/>
              <a:t>        left += 1</a:t>
            </a:r>
          </a:p>
          <a:p>
            <a:r>
              <a:rPr lang="en-IN" dirty="0"/>
              <a:t>    else:</a:t>
            </a:r>
          </a:p>
          <a:p>
            <a:r>
              <a:rPr lang="en-IN" dirty="0"/>
              <a:t>        right -=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DB7BFC-7A0F-75A5-24E6-EFDD6A20D87A}"/>
              </a:ext>
            </a:extLst>
          </p:cNvPr>
          <p:cNvSpPr txBox="1"/>
          <p:nvPr/>
        </p:nvSpPr>
        <p:spPr>
          <a:xfrm>
            <a:off x="4188541" y="4480286"/>
            <a:ext cx="707768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 this works:</a:t>
            </a:r>
          </a:p>
          <a:p>
            <a:pPr>
              <a:buNone/>
            </a:pPr>
            <a:r>
              <a:rPr lang="en-IN" dirty="0"/>
              <a:t>Because array is </a:t>
            </a:r>
            <a:r>
              <a:rPr lang="en-IN" b="1" dirty="0"/>
              <a:t>sorted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sum is </a:t>
            </a:r>
            <a:r>
              <a:rPr lang="en-IN" b="1" dirty="0"/>
              <a:t>too small</a:t>
            </a:r>
            <a:r>
              <a:rPr lang="en-IN" dirty="0"/>
              <a:t>, move </a:t>
            </a:r>
            <a:r>
              <a:rPr lang="en-IN" b="1" dirty="0"/>
              <a:t>left pointer right</a:t>
            </a:r>
            <a:r>
              <a:rPr lang="en-IN" dirty="0"/>
              <a:t> → increase sum.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If sum is </a:t>
            </a:r>
            <a:r>
              <a:rPr lang="en-IN" b="1" dirty="0"/>
              <a:t>too large</a:t>
            </a:r>
            <a:r>
              <a:rPr lang="en-IN" dirty="0"/>
              <a:t>, move </a:t>
            </a:r>
            <a:r>
              <a:rPr lang="en-IN" b="1" dirty="0"/>
              <a:t>right pointer left</a:t>
            </a:r>
            <a:r>
              <a:rPr lang="en-IN" dirty="0"/>
              <a:t> → decrease sum.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O(n)</a:t>
            </a:r>
            <a:r>
              <a:rPr lang="pt-BR" dirty="0"/>
              <a:t> → better than brute force </a:t>
            </a:r>
            <a:r>
              <a:rPr lang="pt-BR" b="1" dirty="0"/>
              <a:t>O(n²)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9607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4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4FF7-BBA7-2FB4-429F-BE9053F1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Reverse String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05503-1ED1-9DD1-5138-297152959563}"/>
              </a:ext>
            </a:extLst>
          </p:cNvPr>
          <p:cNvSpPr txBox="1"/>
          <p:nvPr/>
        </p:nvSpPr>
        <p:spPr>
          <a:xfrm>
            <a:off x="4680155" y="1549745"/>
            <a:ext cx="6096000" cy="39703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 = list("hello")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left = 0</a:t>
            </a:r>
          </a:p>
          <a:p>
            <a:r>
              <a:rPr lang="en-IN" dirty="0"/>
              <a:t>right = </a:t>
            </a:r>
            <a:r>
              <a:rPr lang="en-IN" dirty="0" err="1"/>
              <a:t>len</a:t>
            </a:r>
            <a:r>
              <a:rPr lang="en-IN" dirty="0"/>
              <a:t>(s)-1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while left &lt; right:</a:t>
            </a:r>
          </a:p>
          <a:p>
            <a:r>
              <a:rPr lang="en-IN" dirty="0"/>
              <a:t>    s[left], s[right] = s[right], s[left]</a:t>
            </a:r>
          </a:p>
          <a:p>
            <a:r>
              <a:rPr lang="en-IN" dirty="0"/>
              <a:t>    left += 1</a:t>
            </a:r>
          </a:p>
          <a:p>
            <a:r>
              <a:rPr lang="en-IN" dirty="0"/>
              <a:t>    right -= 1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print("".join(s))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1941409-DD98-8BE2-D1C8-0E653CC779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Palindrome check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 sum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Partitioning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Reversal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 duplicates </a:t>
            </a:r>
          </a:p>
        </p:txBody>
      </p:sp>
    </p:spTree>
    <p:extLst>
      <p:ext uri="{BB962C8B-B14F-4D97-AF65-F5344CB8AC3E}">
        <p14:creationId xmlns:p14="http://schemas.microsoft.com/office/powerpoint/2010/main" val="235406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3AA2-3FC0-A80F-F6FF-2CCF18FA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Prefix Sum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A3DA9-D11B-BA49-9B77-841FB4277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A7379-81A1-7EA4-3A2E-63DFD5B03F1D}"/>
              </a:ext>
            </a:extLst>
          </p:cNvPr>
          <p:cNvSpPr txBox="1"/>
          <p:nvPr/>
        </p:nvSpPr>
        <p:spPr>
          <a:xfrm>
            <a:off x="925774" y="215541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arr</a:t>
            </a:r>
            <a:r>
              <a:rPr lang="en-IN" dirty="0"/>
              <a:t> = [2,4,1,5,3]</a:t>
            </a:r>
            <a:br>
              <a:rPr lang="en-IN" dirty="0"/>
            </a:br>
            <a:br>
              <a:rPr lang="en-IN" dirty="0"/>
            </a:br>
            <a:r>
              <a:rPr lang="en-IN" dirty="0">
                <a:solidFill>
                  <a:srgbClr val="FF0000"/>
                </a:solidFill>
              </a:rPr>
              <a:t>[2,6,7,12,15]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F4DB9-EE44-53E9-BBB6-5675975C69D5}"/>
              </a:ext>
            </a:extLst>
          </p:cNvPr>
          <p:cNvSpPr txBox="1"/>
          <p:nvPr/>
        </p:nvSpPr>
        <p:spPr>
          <a:xfrm>
            <a:off x="4385187" y="2581285"/>
            <a:ext cx="6096000" cy="286232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 err="1"/>
              <a:t>arr</a:t>
            </a:r>
            <a:r>
              <a:rPr lang="en-IN" dirty="0"/>
              <a:t> = [3, 2, 5, 1, 4]</a:t>
            </a:r>
          </a:p>
          <a:p>
            <a:endParaRPr lang="en-IN" dirty="0"/>
          </a:p>
          <a:p>
            <a:r>
              <a:rPr lang="en-IN" dirty="0"/>
              <a:t>prefix = []</a:t>
            </a:r>
          </a:p>
          <a:p>
            <a:r>
              <a:rPr lang="en-IN" dirty="0" err="1"/>
              <a:t>running_total</a:t>
            </a:r>
            <a:r>
              <a:rPr lang="en-IN" dirty="0"/>
              <a:t> = 0</a:t>
            </a:r>
          </a:p>
          <a:p>
            <a:endParaRPr lang="en-IN" dirty="0"/>
          </a:p>
          <a:p>
            <a:r>
              <a:rPr lang="en-IN" dirty="0"/>
              <a:t>for </a:t>
            </a:r>
            <a:r>
              <a:rPr lang="en-IN" dirty="0" err="1"/>
              <a:t>num</a:t>
            </a:r>
            <a:r>
              <a:rPr lang="en-IN" dirty="0"/>
              <a:t> in </a:t>
            </a:r>
            <a:r>
              <a:rPr lang="en-IN" dirty="0" err="1"/>
              <a:t>arr</a:t>
            </a:r>
            <a:r>
              <a:rPr lang="en-IN" dirty="0"/>
              <a:t>:</a:t>
            </a:r>
          </a:p>
          <a:p>
            <a:r>
              <a:rPr lang="en-IN" dirty="0"/>
              <a:t>    </a:t>
            </a:r>
            <a:r>
              <a:rPr lang="en-IN" dirty="0" err="1"/>
              <a:t>running_total</a:t>
            </a:r>
            <a:r>
              <a:rPr lang="en-IN" dirty="0"/>
              <a:t> += </a:t>
            </a:r>
            <a:r>
              <a:rPr lang="en-IN" dirty="0" err="1"/>
              <a:t>num</a:t>
            </a:r>
            <a:endParaRPr lang="en-IN" dirty="0"/>
          </a:p>
          <a:p>
            <a:r>
              <a:rPr lang="en-IN" dirty="0"/>
              <a:t>    </a:t>
            </a:r>
            <a:r>
              <a:rPr lang="en-IN" dirty="0" err="1"/>
              <a:t>prefix.append</a:t>
            </a:r>
            <a:r>
              <a:rPr lang="en-IN" dirty="0"/>
              <a:t>(</a:t>
            </a:r>
            <a:r>
              <a:rPr lang="en-IN" dirty="0" err="1"/>
              <a:t>running_total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print(prefix)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50C43-7AF3-AFEC-6AFE-4944A3B2B34C}"/>
              </a:ext>
            </a:extLst>
          </p:cNvPr>
          <p:cNvSpPr txBox="1"/>
          <p:nvPr/>
        </p:nvSpPr>
        <p:spPr>
          <a:xfrm>
            <a:off x="4385187" y="5606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[3, 5, 10, 11, 15]</a:t>
            </a:r>
          </a:p>
        </p:txBody>
      </p:sp>
    </p:spTree>
    <p:extLst>
      <p:ext uri="{BB962C8B-B14F-4D97-AF65-F5344CB8AC3E}">
        <p14:creationId xmlns:p14="http://schemas.microsoft.com/office/powerpoint/2010/main" val="2252948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E3781-3999-B4AD-BCB6-A6504A2EA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How prefix sum is useful in Electronics Engineering 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8E0B0-1304-3D6B-59BD-7D436D833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Cumulative Charge / Battery Usage In electronics:</a:t>
            </a:r>
          </a:p>
          <a:p>
            <a:r>
              <a:rPr lang="en-IN" dirty="0"/>
              <a:t>Current over time contributes to </a:t>
            </a:r>
            <a:r>
              <a:rPr lang="en-IN" b="1" dirty="0"/>
              <a:t>charge consumed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If sampled current readings are:</a:t>
            </a:r>
          </a:p>
          <a:p>
            <a:pPr lvl="2"/>
            <a:r>
              <a:rPr lang="en-IN" dirty="0"/>
              <a:t>[2A, 3A, 1A, 4A]</a:t>
            </a:r>
          </a:p>
          <a:p>
            <a:pPr lvl="2"/>
            <a:r>
              <a:rPr lang="en-IN" dirty="0"/>
              <a:t>Then cumulative charge draw becomes: [2, 5, 6, 10]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D2AE53-5809-1905-80AD-A6DE335EBED1}"/>
              </a:ext>
            </a:extLst>
          </p:cNvPr>
          <p:cNvSpPr txBox="1"/>
          <p:nvPr/>
        </p:nvSpPr>
        <p:spPr>
          <a:xfrm>
            <a:off x="2891436" y="4247139"/>
            <a:ext cx="609600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Real 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Battery monitoring systems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Power consumption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Embedded device energy estimation</a:t>
            </a:r>
          </a:p>
        </p:txBody>
      </p:sp>
    </p:spTree>
    <p:extLst>
      <p:ext uri="{BB962C8B-B14F-4D97-AF65-F5344CB8AC3E}">
        <p14:creationId xmlns:p14="http://schemas.microsoft.com/office/powerpoint/2010/main" val="58583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F0E9B-F46C-D9B3-CF0E-7B2D750EF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Sensor Data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E0345-7A2A-620B-5ABB-C23D1C34A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[2A, 3A, 1A, 4A]</a:t>
            </a:r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7767B-455D-C444-6265-81A2D96F47E9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Meaning: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interval 1 → 2 units consumed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interval 2 → 5 total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after interval 4 → 10 total</a:t>
            </a:r>
          </a:p>
        </p:txBody>
      </p:sp>
    </p:spTree>
    <p:extLst>
      <p:ext uri="{BB962C8B-B14F-4D97-AF65-F5344CB8AC3E}">
        <p14:creationId xmlns:p14="http://schemas.microsoft.com/office/powerpoint/2010/main" val="914482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C1AE-078D-4F3B-CE5C-87FE7CCC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9F40F-DC02-00A5-3B0D-946D30632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70A3F-EA6D-A7EB-3AA5-588C5800B183}"/>
              </a:ext>
            </a:extLst>
          </p:cNvPr>
          <p:cNvSpPr txBox="1"/>
          <p:nvPr/>
        </p:nvSpPr>
        <p:spPr>
          <a:xfrm>
            <a:off x="3048000" y="2705725"/>
            <a:ext cx="6096000" cy="144655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Sliding Window Technique</a:t>
            </a:r>
          </a:p>
        </p:txBody>
      </p:sp>
    </p:spTree>
    <p:extLst>
      <p:ext uri="{BB962C8B-B14F-4D97-AF65-F5344CB8AC3E}">
        <p14:creationId xmlns:p14="http://schemas.microsoft.com/office/powerpoint/2010/main" val="1489101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2DE897-0F61-7E48-4A43-1FEEA4FF3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0872215" cy="1132258"/>
          </a:xfrm>
        </p:spPr>
        <p:txBody>
          <a:bodyPr>
            <a:normAutofit/>
          </a:bodyPr>
          <a:lstStyle/>
          <a:p>
            <a:r>
              <a:rPr lang="en-US" dirty="0"/>
              <a:t>Intro</a:t>
            </a:r>
            <a:endParaRPr lang="en-IN" dirty="0"/>
          </a:p>
        </p:txBody>
      </p:sp>
      <p:pic>
        <p:nvPicPr>
          <p:cNvPr id="3074" name="Picture 2" descr="150 Blurry Train Window Stock Photos ...">
            <a:extLst>
              <a:ext uri="{FF2B5EF4-FFF2-40B4-BE49-F238E27FC236}">
                <a16:creationId xmlns:a16="http://schemas.microsoft.com/office/drawing/2014/main" id="{7931F914-73F4-D912-DE7A-A69F152072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4" r="1" b="1"/>
          <a:stretch>
            <a:fillRect/>
          </a:stretch>
        </p:blipFill>
        <p:spPr bwMode="auto">
          <a:xfrm>
            <a:off x="731520" y="1775012"/>
            <a:ext cx="6355080" cy="453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B345A-045C-9A00-344A-E0FA99DB7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5529" y="1775012"/>
            <a:ext cx="3999334" cy="4534348"/>
          </a:xfrm>
        </p:spPr>
        <p:txBody>
          <a:bodyPr>
            <a:normAutofit/>
          </a:bodyPr>
          <a:lstStyle/>
          <a:p>
            <a:r>
              <a:rPr lang="en-IN" sz="1800"/>
              <a:t>“Imagine looking through a train window while moving—</a:t>
            </a:r>
            <a:br>
              <a:rPr lang="en-IN" sz="1800"/>
            </a:br>
            <a:r>
              <a:rPr lang="en-IN" sz="1800"/>
              <a:t>you only see a fixed portion at a time, but that portion keeps shifting.”</a:t>
            </a:r>
          </a:p>
        </p:txBody>
      </p:sp>
    </p:spTree>
    <p:extLst>
      <p:ext uri="{BB962C8B-B14F-4D97-AF65-F5344CB8AC3E}">
        <p14:creationId xmlns:p14="http://schemas.microsoft.com/office/powerpoint/2010/main" val="2078520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95015-941B-B315-B4A7-96CB3EA65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Sliding Window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447E-468D-65A9-B723-F50427D62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(1+2+3), then (2+3+4), then (3+4+5)  → repeated work</a:t>
            </a:r>
          </a:p>
          <a:p>
            <a:endParaRPr lang="en-IN" dirty="0"/>
          </a:p>
          <a:p>
            <a:r>
              <a:rPr lang="en-IN" b="1" dirty="0"/>
              <a:t>Where is SW used mainly:</a:t>
            </a:r>
          </a:p>
          <a:p>
            <a:pPr lvl="1"/>
            <a:r>
              <a:rPr lang="en-IN" dirty="0"/>
              <a:t>Contiguous subarray</a:t>
            </a:r>
          </a:p>
          <a:p>
            <a:pPr lvl="1"/>
            <a:r>
              <a:rPr lang="en-IN" dirty="0"/>
              <a:t>Substring</a:t>
            </a:r>
          </a:p>
          <a:p>
            <a:pPr lvl="1"/>
            <a:r>
              <a:rPr lang="en-IN" dirty="0"/>
              <a:t>Consecutive elements</a:t>
            </a:r>
          </a:p>
          <a:p>
            <a:pPr lvl="1"/>
            <a:r>
              <a:rPr lang="en-IN" dirty="0"/>
              <a:t>Window of size K</a:t>
            </a:r>
          </a:p>
          <a:p>
            <a:pPr lvl="1"/>
            <a:r>
              <a:rPr lang="en-IN" dirty="0"/>
              <a:t>Longest/shortest segment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7AD8F-34E6-FA67-240F-76582B4E1760}"/>
              </a:ext>
            </a:extLst>
          </p:cNvPr>
          <p:cNvSpPr txBox="1"/>
          <p:nvPr/>
        </p:nvSpPr>
        <p:spPr>
          <a:xfrm>
            <a:off x="5712542" y="263549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(1+2+3) = 6</a:t>
            </a:r>
          </a:p>
          <a:p>
            <a:r>
              <a:rPr lang="en-IN" dirty="0"/>
              <a:t>(</a:t>
            </a:r>
            <a:r>
              <a:rPr lang="en-IN" dirty="0">
                <a:solidFill>
                  <a:srgbClr val="FF0000"/>
                </a:solidFill>
              </a:rPr>
              <a:t>2+3</a:t>
            </a:r>
            <a:r>
              <a:rPr lang="en-IN" dirty="0"/>
              <a:t>+4) = 9</a:t>
            </a:r>
          </a:p>
          <a:p>
            <a:r>
              <a:rPr lang="en-IN" dirty="0"/>
              <a:t>(</a:t>
            </a:r>
            <a:r>
              <a:rPr lang="en-IN" dirty="0">
                <a:solidFill>
                  <a:srgbClr val="FF0000"/>
                </a:solidFill>
              </a:rPr>
              <a:t>3+4</a:t>
            </a:r>
            <a:r>
              <a:rPr lang="en-IN" dirty="0"/>
              <a:t>+5) = 12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CEEBC5-D780-4FA6-E008-54B2A78C706E}"/>
              </a:ext>
            </a:extLst>
          </p:cNvPr>
          <p:cNvSpPr txBox="1"/>
          <p:nvPr/>
        </p:nvSpPr>
        <p:spPr>
          <a:xfrm>
            <a:off x="5791200" y="4380095"/>
            <a:ext cx="47784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1+2+3 = 6</a:t>
            </a:r>
            <a:br>
              <a:rPr lang="en-IN" dirty="0"/>
            </a:br>
            <a:r>
              <a:rPr lang="en-IN" dirty="0"/>
              <a:t>6 - 1 + 4 = 9</a:t>
            </a:r>
            <a:br>
              <a:rPr lang="en-IN" dirty="0"/>
            </a:br>
            <a:r>
              <a:rPr lang="en-IN" dirty="0"/>
              <a:t>9 - 2 + 5 = 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25EEA-9777-4FE8-0E78-728F47AE0256}"/>
              </a:ext>
            </a:extLst>
          </p:cNvPr>
          <p:cNvSpPr txBox="1"/>
          <p:nvPr/>
        </p:nvSpPr>
        <p:spPr>
          <a:xfrm>
            <a:off x="4247536" y="5663029"/>
            <a:ext cx="60960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dirty="0"/>
              <a:t>Sliding window works because consecutive windows overlap heavily, so we reuse previous computation.</a:t>
            </a:r>
          </a:p>
        </p:txBody>
      </p:sp>
    </p:spTree>
    <p:extLst>
      <p:ext uri="{BB962C8B-B14F-4D97-AF65-F5344CB8AC3E}">
        <p14:creationId xmlns:p14="http://schemas.microsoft.com/office/powerpoint/2010/main" val="820085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80A84-DEAF-BBA1-32F1-04F4234E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Applications in Electronics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6DD02-8F1A-D90A-4031-7872E1293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Network Communication Protocols (TCP): </a:t>
            </a:r>
            <a:r>
              <a:rPr lang="en-IN" dirty="0"/>
              <a:t>Used for reliable data transmission and flow control. It ensures that the sender does not overwhelm the receiver by limiting the number of unacknowledged packets (send window size - SWS).</a:t>
            </a:r>
          </a:p>
          <a:p>
            <a:r>
              <a:rPr lang="en-IN" b="1" dirty="0"/>
              <a:t>Signal Processing &amp; Time Series Analysis</a:t>
            </a:r>
            <a:r>
              <a:rPr lang="en-IN" dirty="0"/>
              <a:t>: Used to compute moving averages, find maximum/minimum values, or detect patterns within local temporal contexts without re-analyzing the entire dataset.</a:t>
            </a:r>
          </a:p>
          <a:p>
            <a:r>
              <a:rPr lang="en-IN" b="1" dirty="0"/>
              <a:t>Digital Signal Processing (DSP): </a:t>
            </a:r>
            <a:r>
              <a:rPr lang="en-IN" dirty="0"/>
              <a:t>Real-time analysis of digital signals, such as determining the peak energy in a specific time window.</a:t>
            </a:r>
          </a:p>
          <a:p>
            <a:r>
              <a:rPr lang="en-IN" b="1" dirty="0"/>
              <a:t>Data Stream Analytics</a:t>
            </a:r>
            <a:r>
              <a:rPr lang="en-IN" dirty="0"/>
              <a:t>: Processing incoming packet streams in network switches (e.g., </a:t>
            </a:r>
            <a:r>
              <a:rPr lang="en-IN" dirty="0" err="1"/>
              <a:t>ConQuest</a:t>
            </a:r>
            <a:r>
              <a:rPr lang="en-IN" dirty="0"/>
              <a:t>, Hokusai) to detect heavy hitters (high-traffic flows) in real-time</a:t>
            </a:r>
          </a:p>
        </p:txBody>
      </p:sp>
    </p:spTree>
    <p:extLst>
      <p:ext uri="{BB962C8B-B14F-4D97-AF65-F5344CB8AC3E}">
        <p14:creationId xmlns:p14="http://schemas.microsoft.com/office/powerpoint/2010/main" val="6913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81A1-49A9-164A-E946-9F9EC758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B65916-5222-61FA-2B98-F49F1214486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2775" y="2732246"/>
          <a:ext cx="10653714" cy="2560320"/>
        </p:xfrm>
        <a:graphic>
          <a:graphicData uri="http://schemas.openxmlformats.org/drawingml/2006/table">
            <a:tbl>
              <a:tblPr/>
              <a:tblGrid>
                <a:gridCol w="3551238">
                  <a:extLst>
                    <a:ext uri="{9D8B030D-6E8A-4147-A177-3AD203B41FA5}">
                      <a16:colId xmlns:a16="http://schemas.microsoft.com/office/drawing/2014/main" val="3805213434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1016780217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2563999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Step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410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2763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3970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48315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duplicate → shrink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7388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expand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6952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duplicate → shrink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40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9638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40E9-0AD2-32D8-F515-2E8AFDCE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609" y="2770731"/>
            <a:ext cx="10653578" cy="1132258"/>
          </a:xfrm>
        </p:spPr>
        <p:txBody>
          <a:bodyPr/>
          <a:lstStyle/>
          <a:p>
            <a:r>
              <a:rPr lang="en-IN" dirty="0"/>
              <a:t>Java – Time Complexity  (Continued…)</a:t>
            </a:r>
          </a:p>
        </p:txBody>
      </p:sp>
      <p:sp>
        <p:nvSpPr>
          <p:cNvPr id="6" name="Rectangle 5">
            <a:hlinkClick r:id="rId2" action="ppaction://hlinkfile"/>
            <a:extLst>
              <a:ext uri="{FF2B5EF4-FFF2-40B4-BE49-F238E27FC236}">
                <a16:creationId xmlns:a16="http://schemas.microsoft.com/office/drawing/2014/main" id="{3733351C-FCA5-D2BD-5AEE-77F902E778A9}"/>
              </a:ext>
            </a:extLst>
          </p:cNvPr>
          <p:cNvSpPr/>
          <p:nvPr/>
        </p:nvSpPr>
        <p:spPr>
          <a:xfrm>
            <a:off x="8662219" y="4729316"/>
            <a:ext cx="2340078" cy="7767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Excel File</a:t>
            </a:r>
          </a:p>
        </p:txBody>
      </p:sp>
    </p:spTree>
    <p:extLst>
      <p:ext uri="{BB962C8B-B14F-4D97-AF65-F5344CB8AC3E}">
        <p14:creationId xmlns:p14="http://schemas.microsoft.com/office/powerpoint/2010/main" val="424787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19CB-278D-7BEE-891F-E98443B22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Longest Substring Without Repeating Characters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CFAE2-2889-B0DC-CC7E-8A139633782B}"/>
              </a:ext>
            </a:extLst>
          </p:cNvPr>
          <p:cNvSpPr txBox="1"/>
          <p:nvPr/>
        </p:nvSpPr>
        <p:spPr>
          <a:xfrm>
            <a:off x="925774" y="26756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[a]</a:t>
            </a:r>
            <a:br>
              <a:rPr lang="en-IN" dirty="0"/>
            </a:br>
            <a:r>
              <a:rPr lang="en-IN" dirty="0"/>
              <a:t>Set: {a}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8D25C-B0B5-32CB-B7A7-28952DDF5CF6}"/>
              </a:ext>
            </a:extLst>
          </p:cNvPr>
          <p:cNvSpPr txBox="1"/>
          <p:nvPr/>
        </p:nvSpPr>
        <p:spPr>
          <a:xfrm>
            <a:off x="925774" y="36358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[a b]</a:t>
            </a:r>
          </a:p>
          <a:p>
            <a:r>
              <a:rPr lang="en-IN" dirty="0"/>
              <a:t>Set: {a, b}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B5E6BE-59A6-8C06-3971-B132328C3441}"/>
              </a:ext>
            </a:extLst>
          </p:cNvPr>
          <p:cNvSpPr txBox="1"/>
          <p:nvPr/>
        </p:nvSpPr>
        <p:spPr>
          <a:xfrm>
            <a:off x="925774" y="45959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[a b c]</a:t>
            </a:r>
          </a:p>
          <a:p>
            <a:r>
              <a:rPr lang="en-IN" dirty="0"/>
              <a:t>Set: {a, b, c}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CF1A94-EBB1-5EE9-C4B1-66AAB9FEDB7B}"/>
              </a:ext>
            </a:extLst>
          </p:cNvPr>
          <p:cNvSpPr txBox="1"/>
          <p:nvPr/>
        </p:nvSpPr>
        <p:spPr>
          <a:xfrm>
            <a:off x="5771535" y="20386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Next char = 'a'</a:t>
            </a:r>
          </a:p>
          <a:p>
            <a:r>
              <a:rPr lang="en-IN" dirty="0"/>
              <a:t>Window: [a b c a] ❌ duplicate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823138-11E5-EB7E-856E-6CCB5EFD999A}"/>
              </a:ext>
            </a:extLst>
          </p:cNvPr>
          <p:cNvSpPr txBox="1"/>
          <p:nvPr/>
        </p:nvSpPr>
        <p:spPr>
          <a:xfrm>
            <a:off x="5771535" y="31058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Remove 'a' → Window becomes [b c a]</a:t>
            </a:r>
          </a:p>
          <a:p>
            <a:r>
              <a:rPr lang="en-IN" dirty="0"/>
              <a:t>Set: {b, c, a}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2331E-C97D-C4F9-7EDF-D17CFFC7866A}"/>
              </a:ext>
            </a:extLst>
          </p:cNvPr>
          <p:cNvSpPr txBox="1"/>
          <p:nvPr/>
        </p:nvSpPr>
        <p:spPr>
          <a:xfrm>
            <a:off x="925774" y="20109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</a:t>
            </a:r>
            <a:r>
              <a:rPr lang="en-IN" dirty="0" err="1"/>
              <a:t>abca</a:t>
            </a:r>
            <a:r>
              <a:rPr lang="en-IN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3652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FDED5-670B-DEC3-65D8-6E9834832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Sliding window with </a:t>
            </a:r>
            <a:r>
              <a:rPr lang="en-IN" dirty="0" err="1"/>
              <a:t>hashmap</a:t>
            </a:r>
            <a:r>
              <a:rPr lang="en-IN" dirty="0"/>
              <a:t> to track frequency and ensure at most K unique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8A446-80B5-B9FC-4672-2CABC3CEC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2627A7-E132-6C72-6288-A769A55EC406}"/>
              </a:ext>
            </a:extLst>
          </p:cNvPr>
          <p:cNvSpPr txBox="1"/>
          <p:nvPr/>
        </p:nvSpPr>
        <p:spPr>
          <a:xfrm>
            <a:off x="806245" y="21554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</a:t>
            </a:r>
            <a:r>
              <a:rPr lang="en-IN" dirty="0" err="1"/>
              <a:t>eceba</a:t>
            </a:r>
            <a:r>
              <a:rPr lang="en-IN" dirty="0"/>
              <a:t>", </a:t>
            </a:r>
            <a:r>
              <a:rPr lang="en-IN" dirty="0">
                <a:solidFill>
                  <a:srgbClr val="0070C0"/>
                </a:solidFill>
              </a:rPr>
              <a:t>k =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5FFE9B-7A03-12BB-0F3C-58B5EA17FFE9}"/>
              </a:ext>
            </a:extLst>
          </p:cNvPr>
          <p:cNvSpPr txBox="1"/>
          <p:nvPr/>
        </p:nvSpPr>
        <p:spPr>
          <a:xfrm>
            <a:off x="806245" y="321559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[e]</a:t>
            </a:r>
          </a:p>
          <a:p>
            <a:r>
              <a:rPr lang="en-IN" dirty="0"/>
              <a:t>Map: {e:1}</a:t>
            </a:r>
          </a:p>
          <a:p>
            <a:r>
              <a:rPr lang="en-IN" dirty="0"/>
              <a:t>✔ valid (1 ≤ 2)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00AC2-3215-0BB6-4A65-90416FC933B3}"/>
              </a:ext>
            </a:extLst>
          </p:cNvPr>
          <p:cNvSpPr txBox="1"/>
          <p:nvPr/>
        </p:nvSpPr>
        <p:spPr>
          <a:xfrm>
            <a:off x="806245" y="482978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[e c e]</a:t>
            </a:r>
          </a:p>
          <a:p>
            <a:r>
              <a:rPr lang="en-IN" dirty="0"/>
              <a:t>Map: {e:2, c:1}</a:t>
            </a:r>
          </a:p>
          <a:p>
            <a:r>
              <a:rPr lang="en-IN" dirty="0"/>
              <a:t>✔ valid (2 ≤ 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462F80-2552-07DB-F05F-1C9EABA51415}"/>
              </a:ext>
            </a:extLst>
          </p:cNvPr>
          <p:cNvSpPr txBox="1"/>
          <p:nvPr/>
        </p:nvSpPr>
        <p:spPr>
          <a:xfrm>
            <a:off x="5170226" y="194684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[e c e b]</a:t>
            </a:r>
          </a:p>
          <a:p>
            <a:r>
              <a:rPr lang="en-IN" dirty="0"/>
              <a:t>Map: {e:2, c:1, b:1}</a:t>
            </a:r>
          </a:p>
          <a:p>
            <a:r>
              <a:rPr lang="en-IN" dirty="0"/>
              <a:t>❌ 3 distinct &gt;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C9096-8701-62FD-7119-DD6BD307A14A}"/>
              </a:ext>
            </a:extLst>
          </p:cNvPr>
          <p:cNvSpPr txBox="1"/>
          <p:nvPr/>
        </p:nvSpPr>
        <p:spPr>
          <a:xfrm>
            <a:off x="5170226" y="331759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Remove 'e' → {e:1, c:1, b:1} ❌ still 3</a:t>
            </a:r>
          </a:p>
          <a:p>
            <a:r>
              <a:rPr lang="en-IN" dirty="0"/>
              <a:t>Remove 'c' → {e:1, b:1} ✔ back to 2</a:t>
            </a:r>
          </a:p>
          <a:p>
            <a:r>
              <a:rPr lang="en-IN" dirty="0"/>
              <a:t>Window becomes: [e b]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02C9B8-8EC3-4895-02AA-1BC6EE2C1F57}"/>
              </a:ext>
            </a:extLst>
          </p:cNvPr>
          <p:cNvSpPr txBox="1"/>
          <p:nvPr/>
        </p:nvSpPr>
        <p:spPr>
          <a:xfrm>
            <a:off x="5170226" y="497536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Window: [e b a]</a:t>
            </a:r>
          </a:p>
          <a:p>
            <a:r>
              <a:rPr lang="en-IN" dirty="0"/>
              <a:t>Map: {e:1, b:1, a:1}</a:t>
            </a:r>
          </a:p>
          <a:p>
            <a:r>
              <a:rPr lang="en-IN" dirty="0"/>
              <a:t>❌ again exceeds k</a:t>
            </a:r>
          </a:p>
        </p:txBody>
      </p:sp>
    </p:spTree>
    <p:extLst>
      <p:ext uri="{BB962C8B-B14F-4D97-AF65-F5344CB8AC3E}">
        <p14:creationId xmlns:p14="http://schemas.microsoft.com/office/powerpoint/2010/main" val="241140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9" grpId="0"/>
      <p:bldP spid="11" grpId="0"/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4AE82-3E47-FE19-473D-4F2102CFB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IN" dirty="0"/>
              <a:t>Subscription Screens Analogy (Perfect Mapping)</a:t>
            </a:r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916356-F52B-1305-E384-9589BBC427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812423"/>
              </p:ext>
            </p:extLst>
          </p:nvPr>
        </p:nvGraphicFramePr>
        <p:xfrm>
          <a:off x="930876" y="2048222"/>
          <a:ext cx="10335351" cy="404560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677819">
                  <a:extLst>
                    <a:ext uri="{9D8B030D-6E8A-4147-A177-3AD203B41FA5}">
                      <a16:colId xmlns:a16="http://schemas.microsoft.com/office/drawing/2014/main" val="1474061711"/>
                    </a:ext>
                  </a:extLst>
                </a:gridCol>
                <a:gridCol w="6657532">
                  <a:extLst>
                    <a:ext uri="{9D8B030D-6E8A-4147-A177-3AD203B41FA5}">
                      <a16:colId xmlns:a16="http://schemas.microsoft.com/office/drawing/2014/main" val="682516894"/>
                    </a:ext>
                  </a:extLst>
                </a:gridCol>
              </a:tblGrid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Algorithm Concept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Real-world Meaning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4024602868"/>
                  </a:ext>
                </a:extLst>
              </a:tr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Window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Active devices using the account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862814711"/>
                  </a:ext>
                </a:extLst>
              </a:tr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Characters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Device IDs / users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2555073622"/>
                  </a:ext>
                </a:extLst>
              </a:tr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K distinct limit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Max screens allowed in subscription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323000873"/>
                  </a:ext>
                </a:extLst>
              </a:tr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Expand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New device starts streaming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3123357459"/>
                  </a:ext>
                </a:extLst>
              </a:tr>
              <a:tr h="674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Shrink</a:t>
                      </a:r>
                    </a:p>
                  </a:txBody>
                  <a:tcPr marL="153242" marR="153242" marT="76621" marB="766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Remove oldest active device</a:t>
                      </a:r>
                    </a:p>
                  </a:txBody>
                  <a:tcPr marL="153242" marR="153242" marT="76621" marB="76621" anchor="ctr"/>
                </a:tc>
                <a:extLst>
                  <a:ext uri="{0D108BD9-81ED-4DB2-BD59-A6C34878D82A}">
                    <a16:rowId xmlns:a16="http://schemas.microsoft.com/office/drawing/2014/main" val="1484933598"/>
                  </a:ext>
                </a:extLst>
              </a:tr>
            </a:tbl>
          </a:graphicData>
        </a:graphic>
      </p:graphicFrame>
      <p:pic>
        <p:nvPicPr>
          <p:cNvPr id="1026" name="Picture 2" descr="About Netflix - Company Assets">
            <a:extLst>
              <a:ext uri="{FF2B5EF4-FFF2-40B4-BE49-F238E27FC236}">
                <a16:creationId xmlns:a16="http://schemas.microsoft.com/office/drawing/2014/main" id="{88B737D8-7A81-5838-01B6-459C6C36C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7" y="274089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03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25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24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52FF3-3A8C-C006-7E12-9D70973F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if two strings are anagrams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B11F2-68D4-CF5B-7880-EC37DCA27DAA}"/>
              </a:ext>
            </a:extLst>
          </p:cNvPr>
          <p:cNvSpPr txBox="1"/>
          <p:nvPr/>
        </p:nvSpPr>
        <p:spPr>
          <a:xfrm>
            <a:off x="688257" y="1715532"/>
            <a:ext cx="9635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Two strings are anagrams if they contain the same characters with the same frequencies (order doesn’t matter)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EAB3F8-4A9C-9BAA-06B9-A200FC0F156C}"/>
              </a:ext>
            </a:extLst>
          </p:cNvPr>
          <p:cNvSpPr txBox="1"/>
          <p:nvPr/>
        </p:nvSpPr>
        <p:spPr>
          <a:xfrm>
            <a:off x="688256" y="2616680"/>
            <a:ext cx="96356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Detect rearranged keywords in search or spam systems (e.g., hiding banned words by shuffling letters)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6E3902-AA12-2E13-62A0-19F25E4D0F8F}"/>
              </a:ext>
            </a:extLst>
          </p:cNvPr>
          <p:cNvSpPr txBox="1"/>
          <p:nvPr/>
        </p:nvSpPr>
        <p:spPr>
          <a:xfrm>
            <a:off x="688256" y="37867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"listen"</a:t>
            </a:r>
          </a:p>
          <a:p>
            <a:r>
              <a:rPr lang="en-IN" dirty="0"/>
              <a:t>t = "silent"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0F720A-A3AB-CDEB-29E0-53F869711389}"/>
              </a:ext>
            </a:extLst>
          </p:cNvPr>
          <p:cNvSpPr txBox="1"/>
          <p:nvPr/>
        </p:nvSpPr>
        <p:spPr>
          <a:xfrm>
            <a:off x="688256" y="475028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listen → {l:1, i:1, s:1, t:1, e:1, n:1}</a:t>
            </a:r>
          </a:p>
          <a:p>
            <a:r>
              <a:rPr lang="en-IN" dirty="0"/>
              <a:t>silent → {s:1, i:1, l:1, e:1, n:1, t:1}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D6A52-3F56-92B3-188E-25DB9A89E685}"/>
              </a:ext>
            </a:extLst>
          </p:cNvPr>
          <p:cNvSpPr txBox="1"/>
          <p:nvPr/>
        </p:nvSpPr>
        <p:spPr>
          <a:xfrm>
            <a:off x="6518787" y="378671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 = "hello"</a:t>
            </a:r>
          </a:p>
          <a:p>
            <a:r>
              <a:rPr lang="en-IN" dirty="0"/>
              <a:t>t = "world"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9EA57-CE35-D8BF-72E8-6149256C9B7D}"/>
              </a:ext>
            </a:extLst>
          </p:cNvPr>
          <p:cNvSpPr txBox="1"/>
          <p:nvPr/>
        </p:nvSpPr>
        <p:spPr>
          <a:xfrm>
            <a:off x="6518787" y="4633590"/>
            <a:ext cx="6307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hello → {h:1, e:1, l:2, o:1}</a:t>
            </a:r>
          </a:p>
          <a:p>
            <a:r>
              <a:rPr lang="en-IN" dirty="0"/>
              <a:t>world → {w:1, o:1, r:1, l:1, d:1}</a:t>
            </a:r>
          </a:p>
        </p:txBody>
      </p:sp>
    </p:spTree>
    <p:extLst>
      <p:ext uri="{BB962C8B-B14F-4D97-AF65-F5344CB8AC3E}">
        <p14:creationId xmlns:p14="http://schemas.microsoft.com/office/powerpoint/2010/main" val="404407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C27D-2D6E-9042-C9BA-4B38AD9ED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 Parentheses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E430D-26D9-C5D8-5C37-61F0B7D1AEAA}"/>
              </a:ext>
            </a:extLst>
          </p:cNvPr>
          <p:cNvSpPr txBox="1"/>
          <p:nvPr/>
        </p:nvSpPr>
        <p:spPr>
          <a:xfrm>
            <a:off x="612647" y="2035729"/>
            <a:ext cx="103994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Push opening brackets onto a stack; when a closing bracket appears, it must match the most recent opening bracket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E1CED-153B-F556-804B-9DB0FAD67BE8}"/>
              </a:ext>
            </a:extLst>
          </p:cNvPr>
          <p:cNvSpPr txBox="1"/>
          <p:nvPr/>
        </p:nvSpPr>
        <p:spPr>
          <a:xfrm>
            <a:off x="612646" y="2941144"/>
            <a:ext cx="11048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Syntax validation in code editors, compilers, or expression evaluators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1045AB-CF56-4F10-61E2-7AB437FA0CAE}"/>
              </a:ext>
            </a:extLst>
          </p:cNvPr>
          <p:cNvSpPr txBox="1"/>
          <p:nvPr/>
        </p:nvSpPr>
        <p:spPr>
          <a:xfrm>
            <a:off x="612646" y="3544530"/>
            <a:ext cx="609600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6000" dirty="0"/>
              <a:t>s = "({[]})"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B36FA-C520-0D35-9B5A-73B4737DD269}"/>
              </a:ext>
            </a:extLst>
          </p:cNvPr>
          <p:cNvSpPr txBox="1"/>
          <p:nvPr/>
        </p:nvSpPr>
        <p:spPr>
          <a:xfrm>
            <a:off x="612646" y="4794247"/>
            <a:ext cx="6096000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6000" dirty="0"/>
              <a:t>s = "(]"</a:t>
            </a:r>
          </a:p>
        </p:txBody>
      </p:sp>
    </p:spTree>
    <p:extLst>
      <p:ext uri="{BB962C8B-B14F-4D97-AF65-F5344CB8AC3E}">
        <p14:creationId xmlns:p14="http://schemas.microsoft.com/office/powerpoint/2010/main" val="279060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1218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Neue Haas Grotesk Text Pro</vt:lpstr>
      <vt:lpstr>VanillaVTI</vt:lpstr>
      <vt:lpstr>"Two Pointers"</vt:lpstr>
      <vt:lpstr>Find 21</vt:lpstr>
      <vt:lpstr>Lists , 2 sum problem</vt:lpstr>
      <vt:lpstr>Reverse String</vt:lpstr>
      <vt:lpstr>Prefix Sum Pattern</vt:lpstr>
      <vt:lpstr>How prefix sum is useful in Electronics Engineering ? </vt:lpstr>
      <vt:lpstr>Sensor Data Aggregation</vt:lpstr>
      <vt:lpstr>PowerPoint Presentation</vt:lpstr>
      <vt:lpstr>Intro</vt:lpstr>
      <vt:lpstr>Why Sliding Window</vt:lpstr>
      <vt:lpstr>Core Applications in Electronics Engineering</vt:lpstr>
      <vt:lpstr>PowerPoint Presentation</vt:lpstr>
      <vt:lpstr>Java – Time Complexity  (Continued…)</vt:lpstr>
      <vt:lpstr>Longest Substring Without Repeating Characters</vt:lpstr>
      <vt:lpstr>Sliding window with hashmap to track frequency and ensure at most K unique characters</vt:lpstr>
      <vt:lpstr>Subscription Screens Analogy (Perfect Mapping)</vt:lpstr>
      <vt:lpstr>Check if two strings are anagrams</vt:lpstr>
      <vt:lpstr>Valid Parentheses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Uttam Shreyakar</dc:creator>
  <cp:lastModifiedBy>Uttam Shreyakar</cp:lastModifiedBy>
  <cp:revision>9</cp:revision>
  <dcterms:created xsi:type="dcterms:W3CDTF">2026-04-10T15:21:54Z</dcterms:created>
  <dcterms:modified xsi:type="dcterms:W3CDTF">2026-04-17T16:54:45Z</dcterms:modified>
</cp:coreProperties>
</file>