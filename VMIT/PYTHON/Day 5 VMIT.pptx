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FCFE-9FD0-BB7A-4E6A-7B30E619C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5689F8-EBB9-073D-69BC-560E6B4DD3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FAEBB-CE00-AF06-069F-0D7DCBFF1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87AA4-A7AA-ABAB-0E41-D5830F3AE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915C2-8C4E-0328-C92D-E88096BB7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383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369D-0D5C-3E81-24AE-39C3A86C1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F570-F617-8E9F-7B97-D96C38522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B1EF9-452B-F206-AC75-B827B1DF0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A9F8-94F3-BFFE-F77A-6866EBEBA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31347-D00D-2B90-6259-821269D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43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D590-9329-BA80-1809-E24E2ABBD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46025-81D3-E014-4531-0959CE77C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D5F37-F592-EF46-080F-6843D8B2D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37FC-6406-0B2F-B140-D78C5D75B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BD233-521F-5A40-2184-CECF9AEAC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489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BFFCD-45C9-5EC3-40CB-712E43C1B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54A2A-4B03-CB0D-1F85-D18180A4AB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3CBBE-C2D2-4F3D-5464-D402650B2A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513038-18F7-52A4-ADD7-1FDE13D20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FD4702-B220-8028-5B93-9F1A089E6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6BDB42-1111-E2D7-26B8-6E09751A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7576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A9284-9286-0AB4-876D-8AB6AF58C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5BFFE-1640-0992-7029-3430B298C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7BFA4-D293-E124-5EAA-60128BFCB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91E9C7-7C3B-A17A-2E61-8FFF5673E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2FF8CF-98BE-179D-573B-CCE9C341D8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DFA985-3CB8-23BF-74E2-F797B166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DBD2AC-EFD1-A59D-D624-F26908550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7702F1-8D03-34E5-A52B-C47903BD7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461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9065-91C5-7C63-6ED0-B7C6FC79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4C166A-734B-72CD-64FA-8105473C1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4987E9-72BC-7CC1-1632-C127DADED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DF67DF-854F-F7F6-1E9A-5C26B6FF5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012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A93993-E57F-806F-94F2-D427620B1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4AEDBB-E01C-BF9A-FA29-2888ACBD9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4BCC4-93B8-10BF-0ABA-418662730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29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6A21-40D0-BBFE-243E-114EDDEAC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13543-7261-6A2C-FE0E-44B7E2D6D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E00E23-ABD4-FE4F-7301-6BA0C69048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AFD21-7A07-9885-3114-25CF035F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E5AFE-B1C3-8217-C132-9D1ED9E1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D4FE8-9375-3D8C-09AD-067F1962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090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168B6-61E5-5056-BAE3-84CE41B39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C997FF-4FD6-C62E-89BA-10C6C01A0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1E8C8-E125-BF10-D509-63E255544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401978-03C5-F1AD-EF87-2FB9D2AA4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4315FC-CA67-3955-BDA8-F348E2A5F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D470E-AD7B-683E-1CCE-66D8D284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0785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849B8-E3A6-53F1-4482-FB4CD03DC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8A8AA-1956-0953-6397-A5ECED781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C15791-42C1-14EF-7DAC-77AA7B430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9DA3C-3E9B-D7CB-AF8D-E1A6D6EC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F4FDF-0A22-17A0-D3E2-6F79DDD4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20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EFD915-2BE0-EB11-7AAB-625261F931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DF74A5-F95A-033B-10B7-4761E85A1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48488-FE8E-E594-7031-03D6948D2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F726A-9302-1F67-54B6-FB81337A1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F624D-8232-5336-C904-61DAE3BF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938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6B1315-A353-E298-778A-408B0BB2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AD333-E8CB-979D-8F1E-EF0D496DB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3263-2B97-24FF-BC26-649D21109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2F1D1B-F2F1-4485-9F39-D01605053868}" type="datetimeFigureOut">
              <a:rPr lang="en-IN" smtClean="0"/>
              <a:t>23-04-2026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1E746-780B-9B89-BB98-8AA877E3A8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EB396-6E0B-7A89-ACD9-4C0451177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5B4F3-51B9-4056-88A7-91104076D8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9464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ppt%20codes%20files/Reversing%20Linked%20List%20Example.txt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5" Type="http://schemas.openxmlformats.org/officeDocument/2006/relationships/hyperlink" Target="ppt%20codes%20files/Detect%20Cycle%20in%20Linked%20List%20using.txt" TargetMode="Externa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ppt%20codes%20files/Queue%20using%20Two%20Stacks.txt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A2120-9620-C016-02EF-D73D5F2FA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IN" sz="8000">
                <a:solidFill>
                  <a:srgbClr val="FFFFFF"/>
                </a:solidFill>
              </a:rPr>
              <a:t>Linked List, Stack, Queue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A99EA8-6DBD-79E3-B853-C9DB9DC11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IN" sz="2000" dirty="0">
                <a:solidFill>
                  <a:srgbClr val="FFFFFF"/>
                </a:solidFill>
              </a:rPr>
              <a:t>VMIT – Day 7</a:t>
            </a:r>
          </a:p>
        </p:txBody>
      </p:sp>
      <p:sp>
        <p:nvSpPr>
          <p:cNvPr id="25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6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7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6534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89BBF3-2642-836B-055C-1FD2A4ECF4AB}"/>
              </a:ext>
            </a:extLst>
          </p:cNvPr>
          <p:cNvSpPr txBox="1"/>
          <p:nvPr/>
        </p:nvSpPr>
        <p:spPr>
          <a:xfrm>
            <a:off x="845574" y="7100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Browser Back History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1D027-40C4-E312-1089-9F9A91C4FD90}"/>
              </a:ext>
            </a:extLst>
          </p:cNvPr>
          <p:cNvSpPr txBox="1"/>
          <p:nvPr/>
        </p:nvSpPr>
        <p:spPr>
          <a:xfrm>
            <a:off x="845574" y="167467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Visited pages stored in sequence. Reverse helps display latest visited first.</a:t>
            </a:r>
          </a:p>
          <a:p>
            <a:pPr>
              <a:buNone/>
            </a:pPr>
            <a:r>
              <a:rPr lang="en-IN" dirty="0"/>
              <a:t>Example:</a:t>
            </a:r>
          </a:p>
          <a:p>
            <a:pPr>
              <a:buNone/>
            </a:pPr>
            <a:r>
              <a:rPr lang="en-IN" dirty="0"/>
              <a:t>Google → YouTube → Gmail</a:t>
            </a:r>
          </a:p>
          <a:p>
            <a:pPr>
              <a:buNone/>
            </a:pPr>
            <a:r>
              <a:rPr lang="en-IN" dirty="0"/>
              <a:t>Reversed:</a:t>
            </a:r>
          </a:p>
          <a:p>
            <a:pPr>
              <a:buNone/>
            </a:pPr>
            <a:r>
              <a:rPr lang="en-IN" dirty="0"/>
              <a:t>Gmail → YouTube → Google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42B369-FB82-045E-6CC6-C02BFF34155E}"/>
              </a:ext>
            </a:extLst>
          </p:cNvPr>
          <p:cNvSpPr txBox="1"/>
          <p:nvPr/>
        </p:nvSpPr>
        <p:spPr>
          <a:xfrm>
            <a:off x="6941574" y="7100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Undo Operations in Software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2970B0-92A7-817B-EBC1-EDCE8DEEBA7A}"/>
              </a:ext>
            </a:extLst>
          </p:cNvPr>
          <p:cNvSpPr txBox="1"/>
          <p:nvPr/>
        </p:nvSpPr>
        <p:spPr>
          <a:xfrm>
            <a:off x="6941574" y="1674674"/>
            <a:ext cx="65187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Actions performed:</a:t>
            </a:r>
          </a:p>
          <a:p>
            <a:pPr>
              <a:buNone/>
            </a:pPr>
            <a:r>
              <a:rPr lang="en-IN" dirty="0"/>
              <a:t>Type A → Type B → Delete</a:t>
            </a:r>
          </a:p>
          <a:p>
            <a:pPr>
              <a:buNone/>
            </a:pPr>
            <a:r>
              <a:rPr lang="en-IN" dirty="0"/>
              <a:t>Undo should happen reverse order:</a:t>
            </a:r>
          </a:p>
          <a:p>
            <a:pPr>
              <a:buNone/>
            </a:pPr>
            <a:r>
              <a:rPr lang="en-IN" dirty="0"/>
              <a:t>Delete Undo → Type B Undo → Type A Undo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41A719-2B3C-1232-13C7-587F3B82B6F6}"/>
              </a:ext>
            </a:extLst>
          </p:cNvPr>
          <p:cNvSpPr txBox="1"/>
          <p:nvPr/>
        </p:nvSpPr>
        <p:spPr>
          <a:xfrm>
            <a:off x="845574" y="3839808"/>
            <a:ext cx="6730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Train Route Return Journey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EF644E-719F-BC1B-4782-F9AC513FA92F}"/>
              </a:ext>
            </a:extLst>
          </p:cNvPr>
          <p:cNvSpPr txBox="1"/>
          <p:nvPr/>
        </p:nvSpPr>
        <p:spPr>
          <a:xfrm>
            <a:off x="845574" y="4545187"/>
            <a:ext cx="67301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Stations:</a:t>
            </a:r>
          </a:p>
          <a:p>
            <a:pPr>
              <a:buNone/>
            </a:pPr>
            <a:r>
              <a:rPr lang="en-IN" dirty="0"/>
              <a:t>Bangalore → Chennai → Hyderabad</a:t>
            </a:r>
          </a:p>
          <a:p>
            <a:pPr>
              <a:buNone/>
            </a:pPr>
            <a:r>
              <a:rPr lang="en-IN" dirty="0"/>
              <a:t>Return route:</a:t>
            </a:r>
          </a:p>
          <a:p>
            <a:pPr>
              <a:buNone/>
            </a:pPr>
            <a:r>
              <a:rPr lang="en-IN" dirty="0"/>
              <a:t>Hyderabad → Chennai → Bangalore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B49A12-67C1-90AC-54D9-D8259B8FFA7E}"/>
              </a:ext>
            </a:extLst>
          </p:cNvPr>
          <p:cNvSpPr txBox="1"/>
          <p:nvPr/>
        </p:nvSpPr>
        <p:spPr>
          <a:xfrm>
            <a:off x="6941574" y="3839808"/>
            <a:ext cx="6730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Call Log / Chat Messages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3B0B5E-BC4E-9624-BADB-6DC56E4C5FE9}"/>
              </a:ext>
            </a:extLst>
          </p:cNvPr>
          <p:cNvSpPr txBox="1"/>
          <p:nvPr/>
        </p:nvSpPr>
        <p:spPr>
          <a:xfrm>
            <a:off x="6941574" y="4578472"/>
            <a:ext cx="69366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Oldest first:</a:t>
            </a:r>
          </a:p>
          <a:p>
            <a:pPr>
              <a:buNone/>
            </a:pPr>
            <a:r>
              <a:rPr lang="en-IN" dirty="0"/>
              <a:t>Msg1 → Msg2 → Msg3</a:t>
            </a:r>
          </a:p>
          <a:p>
            <a:pPr>
              <a:buNone/>
            </a:pPr>
            <a:r>
              <a:rPr lang="en-IN" dirty="0"/>
              <a:t>Need latest first:</a:t>
            </a:r>
          </a:p>
          <a:p>
            <a:pPr>
              <a:buNone/>
            </a:pPr>
            <a:r>
              <a:rPr lang="en-IN" dirty="0"/>
              <a:t>Msg3 → Msg2 → Msg1</a:t>
            </a:r>
          </a:p>
        </p:txBody>
      </p:sp>
      <p:sp>
        <p:nvSpPr>
          <p:cNvPr id="20" name="TextBox 19">
            <a:hlinkClick r:id="rId2" action="ppaction://hlinkfile"/>
            <a:extLst>
              <a:ext uri="{FF2B5EF4-FFF2-40B4-BE49-F238E27FC236}">
                <a16:creationId xmlns:a16="http://schemas.microsoft.com/office/drawing/2014/main" id="{3FF64410-698F-7F4E-B3E3-02500F0F038B}"/>
              </a:ext>
            </a:extLst>
          </p:cNvPr>
          <p:cNvSpPr txBox="1"/>
          <p:nvPr/>
        </p:nvSpPr>
        <p:spPr>
          <a:xfrm>
            <a:off x="10471355" y="6145161"/>
            <a:ext cx="1555490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IN" dirty="0"/>
              <a:t>Click for code</a:t>
            </a:r>
          </a:p>
        </p:txBody>
      </p:sp>
    </p:spTree>
    <p:extLst>
      <p:ext uri="{BB962C8B-B14F-4D97-AF65-F5344CB8AC3E}">
        <p14:creationId xmlns:p14="http://schemas.microsoft.com/office/powerpoint/2010/main" val="1658870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2DE187-B62B-F24A-0E49-0CDAAB9286D7}"/>
              </a:ext>
            </a:extLst>
          </p:cNvPr>
          <p:cNvSpPr txBox="1"/>
          <p:nvPr/>
        </p:nvSpPr>
        <p:spPr>
          <a:xfrm>
            <a:off x="3048000" y="651076"/>
            <a:ext cx="6096000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/>
              <a:t>Detect Cycle in Linked List </a:t>
            </a:r>
            <a:endParaRPr lang="en-IN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710DFC-31A3-E67C-91C6-45C0417D7FA9}"/>
              </a:ext>
            </a:extLst>
          </p:cNvPr>
          <p:cNvSpPr txBox="1"/>
          <p:nvPr/>
        </p:nvSpPr>
        <p:spPr>
          <a:xfrm>
            <a:off x="1130709" y="1601414"/>
            <a:ext cx="102157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A cycle means some node points back to an earlier node instead of ending at None.</a:t>
            </a:r>
          </a:p>
          <a:p>
            <a:endParaRPr lang="en-IN" dirty="0">
              <a:solidFill>
                <a:srgbClr val="0A0A0A"/>
              </a:solidFill>
              <a:latin typeface="Google San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5EEFC2-7B81-C6A6-75BE-DF22F7A91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709" y="2448353"/>
            <a:ext cx="2781688" cy="466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982BC1-A006-80ED-4389-6CD580B4C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709" y="3176552"/>
            <a:ext cx="4277322" cy="5048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5D90DC-304E-3FAD-E010-38A087D9A703}"/>
              </a:ext>
            </a:extLst>
          </p:cNvPr>
          <p:cNvSpPr txBox="1"/>
          <p:nvPr/>
        </p:nvSpPr>
        <p:spPr>
          <a:xfrm>
            <a:off x="1130709" y="3871590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If a cycle exists: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Traversal never ends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Infinite loops happen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Memory/process issues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App may hang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776B76-088D-CFD9-6674-E58F989079E5}"/>
              </a:ext>
            </a:extLst>
          </p:cNvPr>
          <p:cNvSpPr txBox="1"/>
          <p:nvPr/>
        </p:nvSpPr>
        <p:spPr>
          <a:xfrm>
            <a:off x="7708490" y="203798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Used in: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Browser history structures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Playlist navigation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OS scheduling structures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Memory references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Network routing loops</a:t>
            </a:r>
          </a:p>
        </p:txBody>
      </p:sp>
    </p:spTree>
    <p:extLst>
      <p:ext uri="{BB962C8B-B14F-4D97-AF65-F5344CB8AC3E}">
        <p14:creationId xmlns:p14="http://schemas.microsoft.com/office/powerpoint/2010/main" val="33910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DCD3863-F2E4-3A32-9C21-CE209343E5A0}"/>
              </a:ext>
            </a:extLst>
          </p:cNvPr>
          <p:cNvSpPr/>
          <p:nvPr/>
        </p:nvSpPr>
        <p:spPr>
          <a:xfrm>
            <a:off x="1651819" y="1022555"/>
            <a:ext cx="8288594" cy="4375355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704B840-FFB7-3F19-3441-2F75D2037935}"/>
              </a:ext>
            </a:extLst>
          </p:cNvPr>
          <p:cNvSpPr/>
          <p:nvPr/>
        </p:nvSpPr>
        <p:spPr>
          <a:xfrm>
            <a:off x="2851355" y="2133600"/>
            <a:ext cx="5673213" cy="203527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8D90723-0EF9-C40E-C5BD-C7183AEF37C4}"/>
              </a:ext>
            </a:extLst>
          </p:cNvPr>
          <p:cNvSpPr/>
          <p:nvPr/>
        </p:nvSpPr>
        <p:spPr>
          <a:xfrm>
            <a:off x="5024284" y="1573161"/>
            <a:ext cx="373626" cy="176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9D156D5-FF6F-59F7-8D12-4303BD2CC2E0}"/>
              </a:ext>
            </a:extLst>
          </p:cNvPr>
          <p:cNvSpPr/>
          <p:nvPr/>
        </p:nvSpPr>
        <p:spPr>
          <a:xfrm>
            <a:off x="6096000" y="1573161"/>
            <a:ext cx="373626" cy="176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E4B36AC-C423-772F-27FA-B9E54635941E}"/>
              </a:ext>
            </a:extLst>
          </p:cNvPr>
          <p:cNvSpPr/>
          <p:nvPr/>
        </p:nvSpPr>
        <p:spPr>
          <a:xfrm rot="10800000">
            <a:off x="5260258" y="4606412"/>
            <a:ext cx="373626" cy="176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C34C726-AE20-ABF3-25CB-0F015C419B5B}"/>
              </a:ext>
            </a:extLst>
          </p:cNvPr>
          <p:cNvSpPr/>
          <p:nvPr/>
        </p:nvSpPr>
        <p:spPr>
          <a:xfrm rot="10800000">
            <a:off x="6272981" y="4552335"/>
            <a:ext cx="373626" cy="176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Graphic 8" descr="Run with solid fill">
            <a:extLst>
              <a:ext uri="{FF2B5EF4-FFF2-40B4-BE49-F238E27FC236}">
                <a16:creationId xmlns:a16="http://schemas.microsoft.com/office/drawing/2014/main" id="{15000F4B-AFC0-40D1-54E4-7A7BFE9C6B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97446" y="1204451"/>
            <a:ext cx="914400" cy="914400"/>
          </a:xfrm>
          <a:prstGeom prst="rect">
            <a:avLst/>
          </a:prstGeom>
        </p:spPr>
      </p:pic>
      <p:pic>
        <p:nvPicPr>
          <p:cNvPr id="10" name="Graphic 9" descr="Run with solid fill">
            <a:extLst>
              <a:ext uri="{FF2B5EF4-FFF2-40B4-BE49-F238E27FC236}">
                <a16:creationId xmlns:a16="http://schemas.microsoft.com/office/drawing/2014/main" id="{805ED0F2-69A8-2C7D-4352-FCCDB24F9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10168" y="1661651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6C6AC9-6789-3EC6-8326-5E579A6AAED3}"/>
              </a:ext>
            </a:extLst>
          </p:cNvPr>
          <p:cNvSpPr txBox="1"/>
          <p:nvPr/>
        </p:nvSpPr>
        <p:spPr>
          <a:xfrm>
            <a:off x="7383046" y="820370"/>
            <a:ext cx="1368644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en-IN" dirty="0"/>
              <a:t>Slow runner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30927-CCFD-2293-4C46-3AB4406D2B15}"/>
              </a:ext>
            </a:extLst>
          </p:cNvPr>
          <p:cNvSpPr txBox="1"/>
          <p:nvPr/>
        </p:nvSpPr>
        <p:spPr>
          <a:xfrm>
            <a:off x="8351524" y="1476985"/>
            <a:ext cx="1374607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IN" b="1" dirty="0"/>
              <a:t>Fast runner</a:t>
            </a:r>
          </a:p>
        </p:txBody>
      </p:sp>
      <p:sp>
        <p:nvSpPr>
          <p:cNvPr id="14" name="TextBox 13">
            <a:hlinkClick r:id="rId5" action="ppaction://hlinkfile"/>
            <a:extLst>
              <a:ext uri="{FF2B5EF4-FFF2-40B4-BE49-F238E27FC236}">
                <a16:creationId xmlns:a16="http://schemas.microsoft.com/office/drawing/2014/main" id="{A44A82D4-5FDA-59F9-7E08-6BAADF1A9B07}"/>
              </a:ext>
            </a:extLst>
          </p:cNvPr>
          <p:cNvSpPr txBox="1"/>
          <p:nvPr/>
        </p:nvSpPr>
        <p:spPr>
          <a:xfrm>
            <a:off x="2379406" y="5585625"/>
            <a:ext cx="7806813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If track is </a:t>
            </a:r>
            <a:r>
              <a:rPr lang="en-IN" b="1" dirty="0">
                <a:solidFill>
                  <a:srgbClr val="FF0000"/>
                </a:solidFill>
              </a:rPr>
              <a:t>circular</a:t>
            </a:r>
            <a:r>
              <a:rPr lang="en-IN" b="1" dirty="0"/>
              <a:t>, fast runner eventually catches slow runner.</a:t>
            </a:r>
          </a:p>
          <a:p>
            <a:pPr>
              <a:buNone/>
            </a:pPr>
            <a:r>
              <a:rPr lang="en-IN" dirty="0"/>
              <a:t>If no circle, fast runner </a:t>
            </a:r>
            <a:r>
              <a:rPr lang="en-IN" dirty="0">
                <a:solidFill>
                  <a:srgbClr val="FF0000"/>
                </a:solidFill>
              </a:rPr>
              <a:t>exits</a:t>
            </a:r>
            <a:r>
              <a:rPr lang="en-IN" dirty="0"/>
              <a:t> track.</a:t>
            </a:r>
          </a:p>
          <a:p>
            <a:pPr>
              <a:buNone/>
            </a:pPr>
            <a:r>
              <a:rPr lang="en-IN" dirty="0"/>
              <a:t>That is Floyd’s Algorithm idea.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3202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550"/>
    </mc:Choice>
    <mc:Fallback>
      <p:transition spd="slow" advTm="1355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C40E0-53B5-C5B8-BD16-05C9491D8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114A40-40E6-1F8C-7F92-A9ADE059C005}"/>
              </a:ext>
            </a:extLst>
          </p:cNvPr>
          <p:cNvSpPr txBox="1"/>
          <p:nvPr/>
        </p:nvSpPr>
        <p:spPr>
          <a:xfrm>
            <a:off x="3048000" y="651076"/>
            <a:ext cx="6096000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/>
              <a:t>Queue using Two Stacks</a:t>
            </a:r>
            <a:endParaRPr lang="en-IN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28AFBA-1699-1285-F85A-F53BC5D6E675}"/>
              </a:ext>
            </a:extLst>
          </p:cNvPr>
          <p:cNvSpPr txBox="1"/>
          <p:nvPr/>
        </p:nvSpPr>
        <p:spPr>
          <a:xfrm>
            <a:off x="1130709" y="1601414"/>
            <a:ext cx="1021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Interrupt Request Handling in Embedded Systems</a:t>
            </a:r>
            <a:endParaRPr lang="en-IN" dirty="0">
              <a:solidFill>
                <a:srgbClr val="0A0A0A"/>
              </a:solidFill>
              <a:latin typeface="Google San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26CF3C-6F99-CE10-D64B-9BE7322F8877}"/>
              </a:ext>
            </a:extLst>
          </p:cNvPr>
          <p:cNvSpPr txBox="1"/>
          <p:nvPr/>
        </p:nvSpPr>
        <p:spPr>
          <a:xfrm>
            <a:off x="1130709" y="241333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Microcontrollers like Microchip Technology PIC, STMicroelectronics STM32, or Texas Instruments controllers receive multiple interrupts: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dirty="0"/>
              <a:t>Sensor trigger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dirty="0"/>
              <a:t>UART receive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dirty="0"/>
              <a:t>Timer overflow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dirty="0"/>
              <a:t>Button press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BF3984-1667-44EE-3B4F-7B3547739F6B}"/>
              </a:ext>
            </a:extLst>
          </p:cNvPr>
          <p:cNvSpPr txBox="1"/>
          <p:nvPr/>
        </p:nvSpPr>
        <p:spPr>
          <a:xfrm>
            <a:off x="1130709" y="470258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These requests should be handled in arrival order.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268D1-96D0-CA71-1D08-84860FC3EE0E}"/>
              </a:ext>
            </a:extLst>
          </p:cNvPr>
          <p:cNvSpPr txBox="1"/>
          <p:nvPr/>
        </p:nvSpPr>
        <p:spPr>
          <a:xfrm>
            <a:off x="8101780" y="16014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Why Two Stacks?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35081-040C-25F3-AC0A-AEC7E5EA0D48}"/>
              </a:ext>
            </a:extLst>
          </p:cNvPr>
          <p:cNvSpPr txBox="1"/>
          <p:nvPr/>
        </p:nvSpPr>
        <p:spPr>
          <a:xfrm>
            <a:off x="8101780" y="2229831"/>
            <a:ext cx="34019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Queue using two stacks can manage software receive buffer.</a:t>
            </a:r>
          </a:p>
          <a:p>
            <a:pPr>
              <a:buNone/>
            </a:pPr>
            <a:r>
              <a:rPr lang="en-IN" dirty="0"/>
              <a:t>Example:</a:t>
            </a:r>
          </a:p>
          <a:p>
            <a:pPr>
              <a:buNone/>
            </a:pPr>
            <a:r>
              <a:rPr lang="en-IN" dirty="0"/>
              <a:t>Packets:</a:t>
            </a:r>
          </a:p>
          <a:p>
            <a:pPr>
              <a:buNone/>
            </a:pPr>
            <a:r>
              <a:rPr lang="en-IN" dirty="0">
                <a:latin typeface="Courier New" panose="02070309020205020404" pitchFamily="49" charset="0"/>
              </a:rPr>
              <a:t>P1, P2, P3</a:t>
            </a:r>
            <a:endParaRPr lang="en-IN" dirty="0"/>
          </a:p>
          <a:p>
            <a:pPr>
              <a:buNone/>
            </a:pPr>
            <a:r>
              <a:rPr lang="en-IN" dirty="0"/>
              <a:t>Output:</a:t>
            </a:r>
          </a:p>
          <a:p>
            <a:pPr>
              <a:buNone/>
            </a:pPr>
            <a:r>
              <a:rPr lang="en-IN" dirty="0">
                <a:latin typeface="Courier New" panose="02070309020205020404" pitchFamily="49" charset="0"/>
              </a:rPr>
              <a:t>P1 first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578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3" grpId="0"/>
      <p:bldP spid="4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A6ED2-22F8-9510-30CF-2B80DBD33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3A57EB-B3F0-2E40-77B3-50206BD639DA}"/>
              </a:ext>
            </a:extLst>
          </p:cNvPr>
          <p:cNvSpPr txBox="1"/>
          <p:nvPr/>
        </p:nvSpPr>
        <p:spPr>
          <a:xfrm>
            <a:off x="3048000" y="651076"/>
            <a:ext cx="609600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IN" b="1" dirty="0"/>
              <a:t>Practical Embedded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E375E-2CCC-9740-69FA-365FAA04B3DE}"/>
              </a:ext>
            </a:extLst>
          </p:cNvPr>
          <p:cNvSpPr txBox="1"/>
          <p:nvPr/>
        </p:nvSpPr>
        <p:spPr>
          <a:xfrm>
            <a:off x="1130709" y="1601414"/>
            <a:ext cx="1021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Interrupt Request Handling in Embedded Systems</a:t>
            </a:r>
            <a:endParaRPr lang="en-IN" dirty="0">
              <a:solidFill>
                <a:srgbClr val="0A0A0A"/>
              </a:solidFill>
              <a:latin typeface="Google San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F7454-A8C8-2F8F-9815-5A3FD92CBFD9}"/>
              </a:ext>
            </a:extLst>
          </p:cNvPr>
          <p:cNvSpPr txBox="1"/>
          <p:nvPr/>
        </p:nvSpPr>
        <p:spPr>
          <a:xfrm>
            <a:off x="1130709" y="241333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 an Arduino Uno based smart home board:</a:t>
            </a:r>
          </a:p>
          <a:p>
            <a:r>
              <a:rPr lang="en-IN" dirty="0"/>
              <a:t>Events arrive: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Door sensor open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Motion sensor detected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Temperature high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44240-3B13-A095-DDFA-853C9039E1E4}"/>
              </a:ext>
            </a:extLst>
          </p:cNvPr>
          <p:cNvSpPr txBox="1"/>
          <p:nvPr/>
        </p:nvSpPr>
        <p:spPr>
          <a:xfrm>
            <a:off x="1130709" y="4333256"/>
            <a:ext cx="609600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/>
            <a:r>
              <a:rPr lang="en-IN" dirty="0"/>
              <a:t>Need FIFO handling.</a:t>
            </a:r>
          </a:p>
          <a:p>
            <a:pPr lvl="1"/>
            <a:r>
              <a:rPr lang="en-IN" dirty="0">
                <a:solidFill>
                  <a:srgbClr val="FF0000"/>
                </a:solidFill>
              </a:rPr>
              <a:t>Queue ensures oldest event processed first.</a:t>
            </a:r>
          </a:p>
        </p:txBody>
      </p:sp>
      <p:sp>
        <p:nvSpPr>
          <p:cNvPr id="4" name="TextBox 3">
            <a:hlinkClick r:id="rId2" action="ppaction://hlinkfile"/>
            <a:extLst>
              <a:ext uri="{FF2B5EF4-FFF2-40B4-BE49-F238E27FC236}">
                <a16:creationId xmlns:a16="http://schemas.microsoft.com/office/drawing/2014/main" id="{E3F54B9B-AE04-85C1-0B04-96BEB7B4F2C6}"/>
              </a:ext>
            </a:extLst>
          </p:cNvPr>
          <p:cNvSpPr txBox="1"/>
          <p:nvPr/>
        </p:nvSpPr>
        <p:spPr>
          <a:xfrm>
            <a:off x="1130708" y="5256586"/>
            <a:ext cx="102157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Queue using Two Stacks is useful in embedded and electronics systems where stack operations are easy to implement, but FIFO processing is required for interrupts, sensor events, and communication buffers.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3003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35847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|1.5|1.6|1.1|0.8|0.8|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346</Words>
  <Application>Microsoft Office PowerPoint</Application>
  <PresentationFormat>Widescreen</PresentationFormat>
  <Paragraphs>67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Google Sans</vt:lpstr>
      <vt:lpstr>Office Theme</vt:lpstr>
      <vt:lpstr>Linked List, Stack, Queue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Uttam Shreyakar</dc:creator>
  <cp:lastModifiedBy>Uttam Shreyakar</cp:lastModifiedBy>
  <cp:revision>5</cp:revision>
  <dcterms:created xsi:type="dcterms:W3CDTF">2026-04-23T16:09:48Z</dcterms:created>
  <dcterms:modified xsi:type="dcterms:W3CDTF">2026-04-23T17:13:20Z</dcterms:modified>
</cp:coreProperties>
</file>