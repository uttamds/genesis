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76" r:id="rId10"/>
    <p:sldId id="277" r:id="rId11"/>
    <p:sldId id="278" r:id="rId12"/>
    <p:sldId id="279" r:id="rId13"/>
    <p:sldId id="264" r:id="rId14"/>
    <p:sldId id="265" r:id="rId15"/>
    <p:sldId id="266" r:id="rId16"/>
    <p:sldId id="267" r:id="rId17"/>
    <p:sldId id="268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FCFE-9FD0-BB7A-4E6A-7B30E619C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689F8-EBB9-073D-69BC-560E6B4DD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FAEBB-CE00-AF06-069F-0D7DCBFF1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D1B-F2F1-4485-9F39-D0160505386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87AA4-A7AA-ABAB-0E41-D5830F3A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915C2-8C4E-0328-C92D-E88096BB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B4F3-51B9-4056-88A7-91104076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383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369D-0D5C-3E81-24AE-39C3A86C1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7F570-F617-8E9F-7B97-D96C38522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B1EF9-452B-F206-AC75-B827B1DF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D1B-F2F1-4485-9F39-D0160505386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EA9F8-94F3-BFFE-F77A-6866EBEBA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31347-D00D-2B90-6259-821269DD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B4F3-51B9-4056-88A7-91104076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437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D590-9329-BA80-1809-E24E2ABB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46025-81D3-E014-4531-0959CE77C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D5F37-F592-EF46-080F-6843D8B2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D1B-F2F1-4485-9F39-D0160505386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A37FC-6406-0B2F-B140-D78C5D75B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BD233-521F-5A40-2184-CECF9AEAC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B4F3-51B9-4056-88A7-91104076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89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BFFCD-45C9-5EC3-40CB-712E43C1B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54A2A-4B03-CB0D-1F85-D18180A4A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3CBBE-C2D2-4F3D-5464-D402650B2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13038-18F7-52A4-ADD7-1FDE13D20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D1B-F2F1-4485-9F39-D0160505386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D4702-B220-8028-5B93-9F1A089E6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BDB42-1111-E2D7-26B8-6E09751A9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B4F3-51B9-4056-88A7-91104076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576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A9284-9286-0AB4-876D-8AB6AF58C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5BFFE-1640-0992-7029-3430B298C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7BFA4-D293-E124-5EAA-60128BFCB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91E9C7-7C3B-A17A-2E61-8FFF5673E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2FF8CF-98BE-179D-573B-CCE9C341D8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DFA985-3CB8-23BF-74E2-F797B166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D1B-F2F1-4485-9F39-D0160505386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DBD2AC-EFD1-A59D-D624-F26908550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7702F1-8D03-34E5-A52B-C47903BD7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B4F3-51B9-4056-88A7-91104076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615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69065-91C5-7C63-6ED0-B7C6FC794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4C166A-734B-72CD-64FA-8105473C1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D1B-F2F1-4485-9F39-D0160505386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4987E9-72BC-7CC1-1632-C127DADED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F67DF-854F-F7F6-1E9A-5C26B6FF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B4F3-51B9-4056-88A7-91104076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126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A93993-E57F-806F-94F2-D427620B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D1B-F2F1-4485-9F39-D0160505386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4AEDBB-E01C-BF9A-FA29-2888ACBD9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4BCC4-93B8-10BF-0ABA-418662730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B4F3-51B9-4056-88A7-91104076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29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6A21-40D0-BBFE-243E-114EDDEAC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13543-7261-6A2C-FE0E-44B7E2D6D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00E23-ABD4-FE4F-7301-6BA0C6904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AFD21-7A07-9885-3114-25CF035F8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D1B-F2F1-4485-9F39-D0160505386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E5AFE-B1C3-8217-C132-9D1ED9E11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D4FE8-9375-3D8C-09AD-067F19625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B4F3-51B9-4056-88A7-91104076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090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168B6-61E5-5056-BAE3-84CE41B39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C997FF-4FD6-C62E-89BA-10C6C01A08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F1E8C8-E125-BF10-D509-63E255544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401978-03C5-F1AD-EF87-2FB9D2AA4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D1B-F2F1-4485-9F39-D0160505386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315FC-CA67-3955-BDA8-F348E2A5F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D470E-AD7B-683E-1CCE-66D8D2846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B4F3-51B9-4056-88A7-91104076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785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849B8-E3A6-53F1-4482-FB4CD03DC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8A8AA-1956-0953-6397-A5ECED781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15791-42C1-14EF-7DAC-77AA7B43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D1B-F2F1-4485-9F39-D0160505386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9DA3C-3E9B-D7CB-AF8D-E1A6D6ECA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F4FDF-0A22-17A0-D3E2-6F79DDD45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B4F3-51B9-4056-88A7-91104076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20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FD915-2BE0-EB11-7AAB-625261F93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DF74A5-F95A-033B-10B7-4761E85A1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48488-FE8E-E594-7031-03D6948D2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1D1B-F2F1-4485-9F39-D0160505386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F726A-9302-1F67-54B6-FB81337A1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F624D-8232-5336-C904-61DAE3BFB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5B4F3-51B9-4056-88A7-91104076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8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6B1315-A353-E298-778A-408B0BB2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AD333-E8CB-979D-8F1E-EF0D496DB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43263-2B97-24FF-BC26-649D21109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F1D1B-F2F1-4485-9F39-D01605053868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1E746-780B-9B89-BB98-8AA877E3A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EB396-6E0B-7A89-ACD9-4C0451177B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85B4F3-51B9-4056-88A7-91104076D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464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ppt%20codes%20files/Reversing%20Linked%20List%20Example.txt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hyperlink" Target="ppt%20codes%20files/Detect%20Cycle%20in%20Linked%20List%20using.txt" TargetMode="Externa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ppt%20codes%20files/Queue%20using%20Two%20Stacks.txt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1A2120-9620-C016-02EF-D73D5F2FA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IN" sz="8000">
                <a:solidFill>
                  <a:srgbClr val="FFFFFF"/>
                </a:solidFill>
              </a:rPr>
              <a:t>Linked List, Stack, Queue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A99EA8-6DBD-79E3-B853-C9DB9DC11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IN" sz="2000" dirty="0">
                <a:solidFill>
                  <a:srgbClr val="FFFFFF"/>
                </a:solidFill>
              </a:rPr>
              <a:t>VMIT – Day 7</a:t>
            </a:r>
          </a:p>
        </p:txBody>
      </p:sp>
      <p:sp>
        <p:nvSpPr>
          <p:cNvPr id="25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534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89BBF3-2642-836B-055C-1FD2A4ECF4AB}"/>
              </a:ext>
            </a:extLst>
          </p:cNvPr>
          <p:cNvSpPr txBox="1"/>
          <p:nvPr/>
        </p:nvSpPr>
        <p:spPr>
          <a:xfrm>
            <a:off x="845574" y="7100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Browser Back History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1D027-40C4-E312-1089-9F9A91C4FD90}"/>
              </a:ext>
            </a:extLst>
          </p:cNvPr>
          <p:cNvSpPr txBox="1"/>
          <p:nvPr/>
        </p:nvSpPr>
        <p:spPr>
          <a:xfrm>
            <a:off x="845574" y="167467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Visited pages stored in sequence. Reverse helps display latest visited first.</a:t>
            </a:r>
          </a:p>
          <a:p>
            <a:pPr>
              <a:buNone/>
            </a:pPr>
            <a:r>
              <a:rPr lang="en-IN" dirty="0"/>
              <a:t>Example:</a:t>
            </a:r>
          </a:p>
          <a:p>
            <a:pPr>
              <a:buNone/>
            </a:pPr>
            <a:r>
              <a:rPr lang="en-IN" dirty="0"/>
              <a:t>Google → YouTube → Gmail</a:t>
            </a:r>
          </a:p>
          <a:p>
            <a:pPr>
              <a:buNone/>
            </a:pPr>
            <a:r>
              <a:rPr lang="en-IN" dirty="0"/>
              <a:t>Reversed:</a:t>
            </a:r>
          </a:p>
          <a:p>
            <a:pPr>
              <a:buNone/>
            </a:pPr>
            <a:r>
              <a:rPr lang="en-IN" dirty="0"/>
              <a:t>Gmail → YouTube → Google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42B369-FB82-045E-6CC6-C02BFF34155E}"/>
              </a:ext>
            </a:extLst>
          </p:cNvPr>
          <p:cNvSpPr txBox="1"/>
          <p:nvPr/>
        </p:nvSpPr>
        <p:spPr>
          <a:xfrm>
            <a:off x="6941574" y="7100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Undo Operations in Software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2970B0-92A7-817B-EBC1-EDCE8DEEBA7A}"/>
              </a:ext>
            </a:extLst>
          </p:cNvPr>
          <p:cNvSpPr txBox="1"/>
          <p:nvPr/>
        </p:nvSpPr>
        <p:spPr>
          <a:xfrm>
            <a:off x="6941574" y="1674674"/>
            <a:ext cx="65187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Actions performed:</a:t>
            </a:r>
          </a:p>
          <a:p>
            <a:pPr>
              <a:buNone/>
            </a:pPr>
            <a:r>
              <a:rPr lang="en-IN" dirty="0"/>
              <a:t>Type A → Type B → Delete</a:t>
            </a:r>
          </a:p>
          <a:p>
            <a:pPr>
              <a:buNone/>
            </a:pPr>
            <a:r>
              <a:rPr lang="en-IN" dirty="0"/>
              <a:t>Undo should happen reverse order:</a:t>
            </a:r>
          </a:p>
          <a:p>
            <a:pPr>
              <a:buNone/>
            </a:pPr>
            <a:r>
              <a:rPr lang="en-IN" dirty="0"/>
              <a:t>Delete Undo → Type B Undo → Type A Undo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41A719-2B3C-1232-13C7-587F3B82B6F6}"/>
              </a:ext>
            </a:extLst>
          </p:cNvPr>
          <p:cNvSpPr txBox="1"/>
          <p:nvPr/>
        </p:nvSpPr>
        <p:spPr>
          <a:xfrm>
            <a:off x="845574" y="3839808"/>
            <a:ext cx="6730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Train Route Return Journey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EF644E-719F-BC1B-4782-F9AC513FA92F}"/>
              </a:ext>
            </a:extLst>
          </p:cNvPr>
          <p:cNvSpPr txBox="1"/>
          <p:nvPr/>
        </p:nvSpPr>
        <p:spPr>
          <a:xfrm>
            <a:off x="845574" y="4545187"/>
            <a:ext cx="67301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Stations:</a:t>
            </a:r>
          </a:p>
          <a:p>
            <a:pPr>
              <a:buNone/>
            </a:pPr>
            <a:r>
              <a:rPr lang="en-IN" dirty="0"/>
              <a:t>Bangalore → Chennai → Hyderabad</a:t>
            </a:r>
          </a:p>
          <a:p>
            <a:pPr>
              <a:buNone/>
            </a:pPr>
            <a:r>
              <a:rPr lang="en-IN" dirty="0"/>
              <a:t>Return route:</a:t>
            </a:r>
          </a:p>
          <a:p>
            <a:pPr>
              <a:buNone/>
            </a:pPr>
            <a:r>
              <a:rPr lang="en-IN" dirty="0"/>
              <a:t>Hyderabad → Chennai → Bangalore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B49A12-67C1-90AC-54D9-D8259B8FFA7E}"/>
              </a:ext>
            </a:extLst>
          </p:cNvPr>
          <p:cNvSpPr txBox="1"/>
          <p:nvPr/>
        </p:nvSpPr>
        <p:spPr>
          <a:xfrm>
            <a:off x="6941574" y="3839808"/>
            <a:ext cx="6730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Call Log / Chat Messages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3B0B5E-BC4E-9624-BADB-6DC56E4C5FE9}"/>
              </a:ext>
            </a:extLst>
          </p:cNvPr>
          <p:cNvSpPr txBox="1"/>
          <p:nvPr/>
        </p:nvSpPr>
        <p:spPr>
          <a:xfrm>
            <a:off x="6941574" y="4578472"/>
            <a:ext cx="69366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Oldest first:</a:t>
            </a:r>
          </a:p>
          <a:p>
            <a:pPr>
              <a:buNone/>
            </a:pPr>
            <a:r>
              <a:rPr lang="en-IN" dirty="0"/>
              <a:t>Msg1 → Msg2 → Msg3</a:t>
            </a:r>
          </a:p>
          <a:p>
            <a:pPr>
              <a:buNone/>
            </a:pPr>
            <a:r>
              <a:rPr lang="en-IN" dirty="0"/>
              <a:t>Need latest first:</a:t>
            </a:r>
          </a:p>
          <a:p>
            <a:pPr>
              <a:buNone/>
            </a:pPr>
            <a:r>
              <a:rPr lang="en-IN" dirty="0"/>
              <a:t>Msg3 → Msg2 → Msg1</a:t>
            </a:r>
          </a:p>
        </p:txBody>
      </p:sp>
      <p:sp>
        <p:nvSpPr>
          <p:cNvPr id="20" name="TextBox 19">
            <a:hlinkClick r:id="rId2" action="ppaction://hlinkfile"/>
            <a:extLst>
              <a:ext uri="{FF2B5EF4-FFF2-40B4-BE49-F238E27FC236}">
                <a16:creationId xmlns:a16="http://schemas.microsoft.com/office/drawing/2014/main" id="{3FF64410-698F-7F4E-B3E3-02500F0F038B}"/>
              </a:ext>
            </a:extLst>
          </p:cNvPr>
          <p:cNvSpPr txBox="1"/>
          <p:nvPr/>
        </p:nvSpPr>
        <p:spPr>
          <a:xfrm>
            <a:off x="10471355" y="6145161"/>
            <a:ext cx="155549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dirty="0"/>
              <a:t>Click for code</a:t>
            </a:r>
          </a:p>
        </p:txBody>
      </p:sp>
    </p:spTree>
    <p:extLst>
      <p:ext uri="{BB962C8B-B14F-4D97-AF65-F5344CB8AC3E}">
        <p14:creationId xmlns:p14="http://schemas.microsoft.com/office/powerpoint/2010/main" val="165887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2DE187-B62B-F24A-0E49-0CDAAB9286D7}"/>
              </a:ext>
            </a:extLst>
          </p:cNvPr>
          <p:cNvSpPr txBox="1"/>
          <p:nvPr/>
        </p:nvSpPr>
        <p:spPr>
          <a:xfrm>
            <a:off x="3048000" y="651076"/>
            <a:ext cx="6096000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dirty="0"/>
              <a:t>Detect Cycle in Linked List 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710DFC-31A3-E67C-91C6-45C0417D7FA9}"/>
              </a:ext>
            </a:extLst>
          </p:cNvPr>
          <p:cNvSpPr txBox="1"/>
          <p:nvPr/>
        </p:nvSpPr>
        <p:spPr>
          <a:xfrm>
            <a:off x="1130709" y="1601414"/>
            <a:ext cx="10215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cycle means some node points back to an earlier node instead of ending at None.</a:t>
            </a:r>
          </a:p>
          <a:p>
            <a:endParaRPr lang="en-IN" dirty="0">
              <a:solidFill>
                <a:srgbClr val="0A0A0A"/>
              </a:solidFill>
              <a:latin typeface="Google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5EEFC2-7B81-C6A6-75BE-DF22F7A91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09" y="2448353"/>
            <a:ext cx="2781688" cy="466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982BC1-A006-80ED-4389-6CD580B4C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709" y="3176552"/>
            <a:ext cx="4277322" cy="5048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5D90DC-304E-3FAD-E010-38A087D9A703}"/>
              </a:ext>
            </a:extLst>
          </p:cNvPr>
          <p:cNvSpPr txBox="1"/>
          <p:nvPr/>
        </p:nvSpPr>
        <p:spPr>
          <a:xfrm>
            <a:off x="1130709" y="387159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If a cycle exists: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Traversal never ends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Infinite loops happen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Memory/process issues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 may hang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776B76-088D-CFD9-6674-E58F989079E5}"/>
              </a:ext>
            </a:extLst>
          </p:cNvPr>
          <p:cNvSpPr txBox="1"/>
          <p:nvPr/>
        </p:nvSpPr>
        <p:spPr>
          <a:xfrm>
            <a:off x="7708490" y="203798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Used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Browser history structures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Playlist navigation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OS scheduling structures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Memory references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Network routing loops</a:t>
            </a:r>
          </a:p>
        </p:txBody>
      </p:sp>
    </p:spTree>
    <p:extLst>
      <p:ext uri="{BB962C8B-B14F-4D97-AF65-F5344CB8AC3E}">
        <p14:creationId xmlns:p14="http://schemas.microsoft.com/office/powerpoint/2010/main" val="33910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DCD3863-F2E4-3A32-9C21-CE209343E5A0}"/>
              </a:ext>
            </a:extLst>
          </p:cNvPr>
          <p:cNvSpPr/>
          <p:nvPr/>
        </p:nvSpPr>
        <p:spPr>
          <a:xfrm>
            <a:off x="1651819" y="1022555"/>
            <a:ext cx="8288594" cy="4375355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704B840-FFB7-3F19-3441-2F75D2037935}"/>
              </a:ext>
            </a:extLst>
          </p:cNvPr>
          <p:cNvSpPr/>
          <p:nvPr/>
        </p:nvSpPr>
        <p:spPr>
          <a:xfrm>
            <a:off x="2851355" y="2133600"/>
            <a:ext cx="5673213" cy="203527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48D90723-0EF9-C40E-C5BD-C7183AEF37C4}"/>
              </a:ext>
            </a:extLst>
          </p:cNvPr>
          <p:cNvSpPr/>
          <p:nvPr/>
        </p:nvSpPr>
        <p:spPr>
          <a:xfrm>
            <a:off x="5024284" y="1573161"/>
            <a:ext cx="373626" cy="176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9D156D5-FF6F-59F7-8D12-4303BD2CC2E0}"/>
              </a:ext>
            </a:extLst>
          </p:cNvPr>
          <p:cNvSpPr/>
          <p:nvPr/>
        </p:nvSpPr>
        <p:spPr>
          <a:xfrm>
            <a:off x="6096000" y="1573161"/>
            <a:ext cx="373626" cy="176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E4B36AC-C423-772F-27FA-B9E54635941E}"/>
              </a:ext>
            </a:extLst>
          </p:cNvPr>
          <p:cNvSpPr/>
          <p:nvPr/>
        </p:nvSpPr>
        <p:spPr>
          <a:xfrm rot="10800000">
            <a:off x="5260258" y="4606412"/>
            <a:ext cx="373626" cy="176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C34C726-AE20-ABF3-25CB-0F015C419B5B}"/>
              </a:ext>
            </a:extLst>
          </p:cNvPr>
          <p:cNvSpPr/>
          <p:nvPr/>
        </p:nvSpPr>
        <p:spPr>
          <a:xfrm rot="10800000">
            <a:off x="6272981" y="4552335"/>
            <a:ext cx="373626" cy="1769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Graphic 8" descr="Run with solid fill">
            <a:extLst>
              <a:ext uri="{FF2B5EF4-FFF2-40B4-BE49-F238E27FC236}">
                <a16:creationId xmlns:a16="http://schemas.microsoft.com/office/drawing/2014/main" id="{15000F4B-AFC0-40D1-54E4-7A7BFE9C6B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97446" y="1204451"/>
            <a:ext cx="914400" cy="914400"/>
          </a:xfrm>
          <a:prstGeom prst="rect">
            <a:avLst/>
          </a:prstGeom>
        </p:spPr>
      </p:pic>
      <p:pic>
        <p:nvPicPr>
          <p:cNvPr id="10" name="Graphic 9" descr="Run with solid fill">
            <a:extLst>
              <a:ext uri="{FF2B5EF4-FFF2-40B4-BE49-F238E27FC236}">
                <a16:creationId xmlns:a16="http://schemas.microsoft.com/office/drawing/2014/main" id="{805ED0F2-69A8-2C7D-4352-FCCDB24F9F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0168" y="1661651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6C6AC9-6789-3EC6-8326-5E579A6AAED3}"/>
              </a:ext>
            </a:extLst>
          </p:cNvPr>
          <p:cNvSpPr txBox="1"/>
          <p:nvPr/>
        </p:nvSpPr>
        <p:spPr>
          <a:xfrm>
            <a:off x="7383046" y="820370"/>
            <a:ext cx="136864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IN" dirty="0"/>
              <a:t>Slow runner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630927-CCFD-2293-4C46-3AB4406D2B15}"/>
              </a:ext>
            </a:extLst>
          </p:cNvPr>
          <p:cNvSpPr txBox="1"/>
          <p:nvPr/>
        </p:nvSpPr>
        <p:spPr>
          <a:xfrm>
            <a:off x="8351524" y="1476985"/>
            <a:ext cx="1374607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IN" b="1" dirty="0"/>
              <a:t>Fast runner</a:t>
            </a:r>
          </a:p>
        </p:txBody>
      </p:sp>
      <p:sp>
        <p:nvSpPr>
          <p:cNvPr id="14" name="TextBox 13">
            <a:hlinkClick r:id="rId5" action="ppaction://hlinkfile"/>
            <a:extLst>
              <a:ext uri="{FF2B5EF4-FFF2-40B4-BE49-F238E27FC236}">
                <a16:creationId xmlns:a16="http://schemas.microsoft.com/office/drawing/2014/main" id="{A44A82D4-5FDA-59F9-7E08-6BAADF1A9B07}"/>
              </a:ext>
            </a:extLst>
          </p:cNvPr>
          <p:cNvSpPr txBox="1"/>
          <p:nvPr/>
        </p:nvSpPr>
        <p:spPr>
          <a:xfrm>
            <a:off x="2379406" y="5585625"/>
            <a:ext cx="7806813" cy="9233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If track is </a:t>
            </a:r>
            <a:r>
              <a:rPr lang="en-IN" b="1" dirty="0">
                <a:solidFill>
                  <a:srgbClr val="FF0000"/>
                </a:solidFill>
              </a:rPr>
              <a:t>circular</a:t>
            </a:r>
            <a:r>
              <a:rPr lang="en-IN" b="1" dirty="0"/>
              <a:t>, fast runner eventually catches slow runner.</a:t>
            </a:r>
          </a:p>
          <a:p>
            <a:pPr>
              <a:buNone/>
            </a:pPr>
            <a:r>
              <a:rPr lang="en-IN" dirty="0"/>
              <a:t>If no circle, fast runner </a:t>
            </a:r>
            <a:r>
              <a:rPr lang="en-IN" dirty="0">
                <a:solidFill>
                  <a:srgbClr val="FF0000"/>
                </a:solidFill>
              </a:rPr>
              <a:t>exits</a:t>
            </a:r>
            <a:r>
              <a:rPr lang="en-IN" dirty="0"/>
              <a:t> track.</a:t>
            </a:r>
          </a:p>
          <a:p>
            <a:pPr>
              <a:buNone/>
            </a:pPr>
            <a:r>
              <a:rPr lang="en-IN" dirty="0"/>
              <a:t>That is Floyd’s Algorithm idea.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3202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50"/>
    </mc:Choice>
    <mc:Fallback xmlns="">
      <p:transition spd="slow" advTm="135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C40E0-53B5-C5B8-BD16-05C9491D8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114A40-40E6-1F8C-7F92-A9ADE059C005}"/>
              </a:ext>
            </a:extLst>
          </p:cNvPr>
          <p:cNvSpPr txBox="1"/>
          <p:nvPr/>
        </p:nvSpPr>
        <p:spPr>
          <a:xfrm>
            <a:off x="3048000" y="651076"/>
            <a:ext cx="6096000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dirty="0"/>
              <a:t>Queue using Two Stacks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8AFBA-1699-1285-F85A-F53BC5D6E675}"/>
              </a:ext>
            </a:extLst>
          </p:cNvPr>
          <p:cNvSpPr txBox="1"/>
          <p:nvPr/>
        </p:nvSpPr>
        <p:spPr>
          <a:xfrm>
            <a:off x="1130709" y="1601414"/>
            <a:ext cx="10215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Interrupt Request Handling in Embedded Systems</a:t>
            </a:r>
            <a:endParaRPr lang="en-IN" dirty="0">
              <a:solidFill>
                <a:srgbClr val="0A0A0A"/>
              </a:solidFill>
              <a:latin typeface="Google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26CF3C-6F99-CE10-D64B-9BE7322F8877}"/>
              </a:ext>
            </a:extLst>
          </p:cNvPr>
          <p:cNvSpPr txBox="1"/>
          <p:nvPr/>
        </p:nvSpPr>
        <p:spPr>
          <a:xfrm>
            <a:off x="1130709" y="241333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Microcontrollers like Microchip Technology PIC, STMicroelectronics STM32, or Texas Instruments controllers receive multiple interrupts: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Sensor trigger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UART receive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Timer overflow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dirty="0"/>
              <a:t>Button press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BF3984-1667-44EE-3B4F-7B3547739F6B}"/>
              </a:ext>
            </a:extLst>
          </p:cNvPr>
          <p:cNvSpPr txBox="1"/>
          <p:nvPr/>
        </p:nvSpPr>
        <p:spPr>
          <a:xfrm>
            <a:off x="1130709" y="47025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These requests should be handled in arrival order.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7268D1-96D0-CA71-1D08-84860FC3EE0E}"/>
              </a:ext>
            </a:extLst>
          </p:cNvPr>
          <p:cNvSpPr txBox="1"/>
          <p:nvPr/>
        </p:nvSpPr>
        <p:spPr>
          <a:xfrm>
            <a:off x="8101780" y="16014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Two Stacks?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35081-040C-25F3-AC0A-AEC7E5EA0D48}"/>
              </a:ext>
            </a:extLst>
          </p:cNvPr>
          <p:cNvSpPr txBox="1"/>
          <p:nvPr/>
        </p:nvSpPr>
        <p:spPr>
          <a:xfrm>
            <a:off x="8101780" y="2229831"/>
            <a:ext cx="34019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Queue using two stacks can manage software receive buffer.</a:t>
            </a:r>
          </a:p>
          <a:p>
            <a:pPr>
              <a:buNone/>
            </a:pPr>
            <a:r>
              <a:rPr lang="en-IN" dirty="0"/>
              <a:t>Example:</a:t>
            </a:r>
          </a:p>
          <a:p>
            <a:pPr>
              <a:buNone/>
            </a:pPr>
            <a:r>
              <a:rPr lang="en-IN" dirty="0"/>
              <a:t>Packets: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P1, P2, P3</a:t>
            </a:r>
            <a:endParaRPr lang="en-IN" dirty="0"/>
          </a:p>
          <a:p>
            <a:pPr>
              <a:buNone/>
            </a:pPr>
            <a:r>
              <a:rPr lang="en-IN" dirty="0"/>
              <a:t>Output:</a:t>
            </a:r>
          </a:p>
          <a:p>
            <a:pPr>
              <a:buNone/>
            </a:pPr>
            <a:r>
              <a:rPr lang="en-IN" dirty="0">
                <a:latin typeface="Courier New" panose="02070309020205020404" pitchFamily="49" charset="0"/>
              </a:rPr>
              <a:t>P1 first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78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3" grpId="0"/>
      <p:bldP spid="4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A6ED2-22F8-9510-30CF-2B80DBD33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3A57EB-B3F0-2E40-77B3-50206BD639DA}"/>
              </a:ext>
            </a:extLst>
          </p:cNvPr>
          <p:cNvSpPr txBox="1"/>
          <p:nvPr/>
        </p:nvSpPr>
        <p:spPr>
          <a:xfrm>
            <a:off x="3048000" y="651076"/>
            <a:ext cx="6096000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b="1" dirty="0"/>
              <a:t>Practical Embedded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E375E-2CCC-9740-69FA-365FAA04B3DE}"/>
              </a:ext>
            </a:extLst>
          </p:cNvPr>
          <p:cNvSpPr txBox="1"/>
          <p:nvPr/>
        </p:nvSpPr>
        <p:spPr>
          <a:xfrm>
            <a:off x="1130709" y="1601414"/>
            <a:ext cx="10215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Interrupt Request Handling in Embedded Systems</a:t>
            </a:r>
            <a:endParaRPr lang="en-IN" dirty="0">
              <a:solidFill>
                <a:srgbClr val="0A0A0A"/>
              </a:solidFill>
              <a:latin typeface="Google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7F7454-A8C8-2F8F-9815-5A3FD92CBFD9}"/>
              </a:ext>
            </a:extLst>
          </p:cNvPr>
          <p:cNvSpPr txBox="1"/>
          <p:nvPr/>
        </p:nvSpPr>
        <p:spPr>
          <a:xfrm>
            <a:off x="1130709" y="241333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 an Arduino Uno based smart home board:</a:t>
            </a:r>
          </a:p>
          <a:p>
            <a:r>
              <a:rPr lang="en-IN" dirty="0"/>
              <a:t>Events arrive: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Door sensor open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Motion sensor detected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Temperature high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44240-3B13-A095-DDFA-853C9039E1E4}"/>
              </a:ext>
            </a:extLst>
          </p:cNvPr>
          <p:cNvSpPr txBox="1"/>
          <p:nvPr/>
        </p:nvSpPr>
        <p:spPr>
          <a:xfrm>
            <a:off x="1130709" y="4333256"/>
            <a:ext cx="60960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IN" dirty="0"/>
              <a:t>Need FIFO handling.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Queue ensures oldest event processed first.</a:t>
            </a:r>
          </a:p>
        </p:txBody>
      </p:sp>
      <p:sp>
        <p:nvSpPr>
          <p:cNvPr id="4" name="TextBox 3">
            <a:hlinkClick r:id="rId2" action="ppaction://hlinkfile"/>
            <a:extLst>
              <a:ext uri="{FF2B5EF4-FFF2-40B4-BE49-F238E27FC236}">
                <a16:creationId xmlns:a16="http://schemas.microsoft.com/office/drawing/2014/main" id="{E3F54B9B-AE04-85C1-0B04-96BEB7B4F2C6}"/>
              </a:ext>
            </a:extLst>
          </p:cNvPr>
          <p:cNvSpPr txBox="1"/>
          <p:nvPr/>
        </p:nvSpPr>
        <p:spPr>
          <a:xfrm>
            <a:off x="1130708" y="5256586"/>
            <a:ext cx="102157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Queue using Two Stacks is useful in embedded and electronics systems where stack operations are easy to implement, but FIFO processing is required for interrupts, sensor events, and communication buffers.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3003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3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902F5C-89C2-A424-A848-2B9F09B4ADC0}"/>
              </a:ext>
            </a:extLst>
          </p:cNvPr>
          <p:cNvSpPr/>
          <p:nvPr/>
        </p:nvSpPr>
        <p:spPr>
          <a:xfrm>
            <a:off x="757711" y="1040213"/>
            <a:ext cx="1067657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IN" sz="7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Trees &amp; Recursion Mastery</a:t>
            </a:r>
            <a:endParaRPr lang="en-US" sz="287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312B6A-AC3B-036E-C80F-6C57259AEF4B}"/>
              </a:ext>
            </a:extLst>
          </p:cNvPr>
          <p:cNvSpPr txBox="1"/>
          <p:nvPr/>
        </p:nvSpPr>
        <p:spPr>
          <a:xfrm>
            <a:off x="2487561" y="3047799"/>
            <a:ext cx="6762492" cy="156966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Keep your notebooks and pen ready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Take notes as we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Solve Assignments</a:t>
            </a:r>
            <a:endParaRPr lang="en-IN" sz="3200" dirty="0"/>
          </a:p>
        </p:txBody>
      </p:sp>
      <p:pic>
        <p:nvPicPr>
          <p:cNvPr id="4" name="Graphic 3" descr="Right pointing backhand index outline">
            <a:extLst>
              <a:ext uri="{FF2B5EF4-FFF2-40B4-BE49-F238E27FC236}">
                <a16:creationId xmlns:a16="http://schemas.microsoft.com/office/drawing/2014/main" id="{6AEFF592-7272-C635-430F-D716B298BD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9724" y="3131130"/>
            <a:ext cx="1761633" cy="176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84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Right pointing backhand index outline">
            <a:extLst>
              <a:ext uri="{FF2B5EF4-FFF2-40B4-BE49-F238E27FC236}">
                <a16:creationId xmlns:a16="http://schemas.microsoft.com/office/drawing/2014/main" id="{A9FAB638-CED6-A54F-F74E-1B01BD6335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4632" y="1667367"/>
            <a:ext cx="3517119" cy="351711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2B413928-E423-C5BC-066D-418FC1803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676" y="2551019"/>
            <a:ext cx="3537345" cy="174981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B543DD6-D9F0-7A6B-2739-B2C7B9904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336" y="2233504"/>
            <a:ext cx="3517120" cy="2384847"/>
          </a:xfrm>
          <a:prstGeom prst="rect">
            <a:avLst/>
          </a:prstGeom>
        </p:spPr>
      </p:pic>
      <p:pic>
        <p:nvPicPr>
          <p:cNvPr id="14" name="Graphic 13" descr="Question Mark with solid fill">
            <a:extLst>
              <a:ext uri="{FF2B5EF4-FFF2-40B4-BE49-F238E27FC236}">
                <a16:creationId xmlns:a16="http://schemas.microsoft.com/office/drawing/2014/main" id="{6C44FAED-60BB-F17E-BCD3-2D612DA495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2148" y="1116687"/>
            <a:ext cx="914400" cy="914400"/>
          </a:xfrm>
          <a:prstGeom prst="rect">
            <a:avLst/>
          </a:prstGeom>
        </p:spPr>
      </p:pic>
      <p:pic>
        <p:nvPicPr>
          <p:cNvPr id="16" name="Graphic 15" descr="Badge Tick with solid fill">
            <a:extLst>
              <a:ext uri="{FF2B5EF4-FFF2-40B4-BE49-F238E27FC236}">
                <a16:creationId xmlns:a16="http://schemas.microsoft.com/office/drawing/2014/main" id="{61AFEB4D-F04B-A2BC-8EF5-82BB50C557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96400" y="960621"/>
            <a:ext cx="1070466" cy="10704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AFD669F-9FEA-4A80-CCD7-094BB68527A9}"/>
              </a:ext>
            </a:extLst>
          </p:cNvPr>
          <p:cNvSpPr txBox="1"/>
          <p:nvPr/>
        </p:nvSpPr>
        <p:spPr>
          <a:xfrm>
            <a:off x="4670322" y="5528047"/>
            <a:ext cx="6096000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400" dirty="0"/>
              <a:t>A </a:t>
            </a:r>
            <a:r>
              <a:rPr lang="en-IN" sz="2400" b="1" dirty="0"/>
              <a:t>tree</a:t>
            </a:r>
            <a:r>
              <a:rPr lang="en-IN" sz="2400" dirty="0"/>
              <a:t> is simply a branching data path.</a:t>
            </a:r>
          </a:p>
        </p:txBody>
      </p:sp>
    </p:spTree>
    <p:extLst>
      <p:ext uri="{BB962C8B-B14F-4D97-AF65-F5344CB8AC3E}">
        <p14:creationId xmlns:p14="http://schemas.microsoft.com/office/powerpoint/2010/main" val="3485088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92D47-9C5E-973D-59C3-3F156C169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DFS (Depth First Search)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3499AA-7A2D-EADE-908D-AFF0FA1A9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70" y="1690688"/>
            <a:ext cx="5344271" cy="4182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3476F7-8402-30AA-0637-633B85935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847" y="1690688"/>
            <a:ext cx="3781953" cy="33437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1949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3B076-8784-99B0-2E93-45FAC1502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BFS (Breadth First Search)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64AEC8-AE6D-94BD-23F6-56FC489F3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56920"/>
            <a:ext cx="5334744" cy="22005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32F179-BA95-75D6-097F-D320A984A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95" y="1833340"/>
            <a:ext cx="4658375" cy="3191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9996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63F0-DC06-0C8E-7AED-17A65CE1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BST (Binary Search Tree)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DBB65-E7E1-02EF-15CB-9CAE68F3B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45" y="1690688"/>
            <a:ext cx="5048955" cy="10002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955930-D197-6C3B-C8FE-B2954286AD1C}"/>
              </a:ext>
            </a:extLst>
          </p:cNvPr>
          <p:cNvSpPr txBox="1"/>
          <p:nvPr/>
        </p:nvSpPr>
        <p:spPr>
          <a:xfrm>
            <a:off x="3048838" y="3016251"/>
            <a:ext cx="609432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Left subtree values &lt; Root &lt; Right subtree values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81B3A6-4564-CA93-828A-B8CC22D49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314" y="3906171"/>
            <a:ext cx="1581371" cy="1609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8177B2-0E6C-B3CF-9416-BE74CF757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3612" y="4021333"/>
            <a:ext cx="3762900" cy="2238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4794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477752-ACCA-41C1-9B1D-D0CED1F9C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A88E6C-0340-975D-FFDE-C570B8E93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7664"/>
            <a:ext cx="6163624" cy="13064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Comparison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3F4172B-6EFF-CA8D-9657-F6B1A0B0A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815899"/>
              </p:ext>
            </p:extLst>
          </p:nvPr>
        </p:nvGraphicFramePr>
        <p:xfrm>
          <a:off x="838200" y="2313150"/>
          <a:ext cx="10512549" cy="3514858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376377">
                  <a:extLst>
                    <a:ext uri="{9D8B030D-6E8A-4147-A177-3AD203B41FA5}">
                      <a16:colId xmlns:a16="http://schemas.microsoft.com/office/drawing/2014/main" val="4071385200"/>
                    </a:ext>
                  </a:extLst>
                </a:gridCol>
                <a:gridCol w="3353369">
                  <a:extLst>
                    <a:ext uri="{9D8B030D-6E8A-4147-A177-3AD203B41FA5}">
                      <a16:colId xmlns:a16="http://schemas.microsoft.com/office/drawing/2014/main" val="2217853609"/>
                    </a:ext>
                  </a:extLst>
                </a:gridCol>
                <a:gridCol w="3106604">
                  <a:extLst>
                    <a:ext uri="{9D8B030D-6E8A-4147-A177-3AD203B41FA5}">
                      <a16:colId xmlns:a16="http://schemas.microsoft.com/office/drawing/2014/main" val="691369916"/>
                    </a:ext>
                  </a:extLst>
                </a:gridCol>
                <a:gridCol w="2676199">
                  <a:extLst>
                    <a:ext uri="{9D8B030D-6E8A-4147-A177-3AD203B41FA5}">
                      <a16:colId xmlns:a16="http://schemas.microsoft.com/office/drawing/2014/main" val="3889819546"/>
                    </a:ext>
                  </a:extLst>
                </a:gridCol>
              </a:tblGrid>
              <a:tr h="782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 dirty="0">
                          <a:solidFill>
                            <a:srgbClr val="0070C0"/>
                          </a:solidFill>
                        </a:rPr>
                        <a:t>Topic</a:t>
                      </a:r>
                    </a:p>
                  </a:txBody>
                  <a:tcPr marL="214858" marR="165275" marT="165275" marB="1652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 dirty="0">
                          <a:solidFill>
                            <a:srgbClr val="0070C0"/>
                          </a:solidFill>
                        </a:rPr>
                        <a:t>Full Form</a:t>
                      </a:r>
                    </a:p>
                  </a:txBody>
                  <a:tcPr marL="214858" marR="165275" marT="165275" marB="16527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 dirty="0">
                          <a:solidFill>
                            <a:srgbClr val="0070C0"/>
                          </a:solidFill>
                        </a:rPr>
                        <a:t>Structure Used</a:t>
                      </a:r>
                    </a:p>
                  </a:txBody>
                  <a:tcPr marL="214858" marR="165275" marT="165275" marB="16527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 dirty="0">
                          <a:solidFill>
                            <a:srgbClr val="0070C0"/>
                          </a:solidFill>
                        </a:rPr>
                        <a:t>Best For</a:t>
                      </a:r>
                    </a:p>
                  </a:txBody>
                  <a:tcPr marL="214858" marR="165275" marT="165275" marB="16527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767519"/>
                  </a:ext>
                </a:extLst>
              </a:tr>
              <a:tr h="782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DFS</a:t>
                      </a:r>
                    </a:p>
                  </a:txBody>
                  <a:tcPr marL="214858" marR="165275" marT="165275" marB="1652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Depth First Search</a:t>
                      </a:r>
                    </a:p>
                  </a:txBody>
                  <a:tcPr marL="214858" marR="165275" marT="165275" marB="16527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Stack / Recursion</a:t>
                      </a:r>
                    </a:p>
                  </a:txBody>
                  <a:tcPr marL="214858" marR="165275" marT="165275" marB="16527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Deep traversal</a:t>
                      </a:r>
                    </a:p>
                  </a:txBody>
                  <a:tcPr marL="214858" marR="165275" marT="165275" marB="16527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089939"/>
                  </a:ext>
                </a:extLst>
              </a:tr>
              <a:tr h="1167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BFS</a:t>
                      </a:r>
                    </a:p>
                  </a:txBody>
                  <a:tcPr marL="214858" marR="165275" marT="165275" marB="1652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Breadth First Search</a:t>
                      </a:r>
                    </a:p>
                  </a:txBody>
                  <a:tcPr marL="214858" marR="165275" marT="165275" marB="16527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Queue</a:t>
                      </a:r>
                    </a:p>
                  </a:txBody>
                  <a:tcPr marL="214858" marR="165275" marT="165275" marB="16527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Level-wise traversal</a:t>
                      </a:r>
                    </a:p>
                  </a:txBody>
                  <a:tcPr marL="214858" marR="165275" marT="165275" marB="16527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844980"/>
                  </a:ext>
                </a:extLst>
              </a:tr>
              <a:tr h="7823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BST</a:t>
                      </a:r>
                    </a:p>
                  </a:txBody>
                  <a:tcPr marL="214858" marR="165275" marT="165275" marB="16527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Binary Search Tree</a:t>
                      </a:r>
                    </a:p>
                  </a:txBody>
                  <a:tcPr marL="214858" marR="165275" marT="165275" marB="16527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>
                          <a:solidFill>
                            <a:schemeClr val="tx1"/>
                          </a:solidFill>
                        </a:rPr>
                        <a:t>Tree with order</a:t>
                      </a:r>
                    </a:p>
                  </a:txBody>
                  <a:tcPr marL="214858" marR="165275" marT="165275" marB="16527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500" cap="none" spc="0" dirty="0">
                          <a:solidFill>
                            <a:schemeClr val="tx1"/>
                          </a:solidFill>
                        </a:rPr>
                        <a:t>Fast search</a:t>
                      </a:r>
                    </a:p>
                  </a:txBody>
                  <a:tcPr marL="214858" marR="165275" marT="165275" marB="16527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109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4494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B00C88-12EA-7FB6-38E3-CEFFF81F0A14}"/>
              </a:ext>
            </a:extLst>
          </p:cNvPr>
          <p:cNvSpPr txBox="1"/>
          <p:nvPr/>
        </p:nvSpPr>
        <p:spPr>
          <a:xfrm>
            <a:off x="640080" y="2706624"/>
            <a:ext cx="6894576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Examples in ECE: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Folder structure in embedded systems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Decision logic circuits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Packet routing paths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Expression trees in DSP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Call hierarchy in firmware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9745EB-9A34-4187-D79E-FC188EFDF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276" y="329183"/>
            <a:ext cx="2985343" cy="34299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112B3D-08E0-1299-3CD4-7A5B34D89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199" y="4079193"/>
            <a:ext cx="3291209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19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54FBB6-D149-C38B-E016-5C53BAC3A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44301"/>
            <a:ext cx="10905066" cy="496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403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7A881D-F8AE-16FD-FF6D-4ABD7FA21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54" y="643467"/>
            <a:ext cx="4848891" cy="55710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F20F46-C17F-D362-AC90-B7E175EFA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2450041"/>
            <a:ext cx="5291667" cy="19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42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7A0DC5-8EB9-7EA7-0676-4B9916DA6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IN" sz="5200"/>
              <a:t>Recursion Basics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27BBC3-BD94-96AF-C258-83DE8A1C0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039" y="1845426"/>
            <a:ext cx="7162868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36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ED5A20-C167-1F5D-E541-6F4409AE2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IN" sz="5200" dirty="0"/>
              <a:t>DFS Traversals (Core Skill) -</a:t>
            </a:r>
            <a:r>
              <a:rPr lang="en-IN" sz="5400" dirty="0">
                <a:solidFill>
                  <a:srgbClr val="FF0000"/>
                </a:solidFill>
              </a:rPr>
              <a:t>Preorder</a:t>
            </a:r>
            <a:endParaRPr lang="en-IN" sz="52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0FFD0A-ACEC-D7AC-3A22-64B183EF3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491" y="1845426"/>
            <a:ext cx="10085965" cy="44503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93A3E4-7D4F-1A7B-F5F4-04C44E16EE4D}"/>
              </a:ext>
            </a:extLst>
          </p:cNvPr>
          <p:cNvSpPr txBox="1"/>
          <p:nvPr/>
        </p:nvSpPr>
        <p:spPr>
          <a:xfrm>
            <a:off x="8770374" y="1321356"/>
            <a:ext cx="2153265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b="1" dirty="0"/>
              <a:t>Root → Left → Right</a:t>
            </a:r>
          </a:p>
        </p:txBody>
      </p:sp>
    </p:spTree>
    <p:extLst>
      <p:ext uri="{BB962C8B-B14F-4D97-AF65-F5344CB8AC3E}">
        <p14:creationId xmlns:p14="http://schemas.microsoft.com/office/powerpoint/2010/main" val="289083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8025D4-8323-282A-60CB-A1E8BDE9F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E68D37-AA47-F805-5965-7392778AD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72660D-85E5-6803-4200-5FD41043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IN" sz="5200"/>
              <a:t>DFS Traversals (Core Skill) -</a:t>
            </a:r>
            <a:r>
              <a:rPr lang="en-IN" sz="5400">
                <a:solidFill>
                  <a:srgbClr val="FF0000"/>
                </a:solidFill>
              </a:rPr>
              <a:t>Inorder</a:t>
            </a:r>
            <a:endParaRPr lang="en-IN" sz="52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4432DB-0B0C-1C22-84E7-0EEA595FAC5F}"/>
              </a:ext>
            </a:extLst>
          </p:cNvPr>
          <p:cNvSpPr txBox="1"/>
          <p:nvPr/>
        </p:nvSpPr>
        <p:spPr>
          <a:xfrm>
            <a:off x="8770374" y="1321356"/>
            <a:ext cx="2153265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/>
              <a:t>Left → Root → Right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CDAB3-F56C-7EB9-A32F-47185C413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172" y="2263721"/>
            <a:ext cx="9674785" cy="362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1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C27EA-6C54-C6E2-D79D-677806689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20E5F9-D54D-A79B-5628-F9FF187F0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CE1F6F-4E8D-9EF6-04C5-F425D27F3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IN" sz="5200" dirty="0"/>
              <a:t>DFS Traversals (Core Skill) -</a:t>
            </a:r>
            <a:r>
              <a:rPr lang="en-IN" sz="5400" dirty="0" err="1">
                <a:solidFill>
                  <a:srgbClr val="FF0000"/>
                </a:solidFill>
              </a:rPr>
              <a:t>Postorder</a:t>
            </a:r>
            <a:endParaRPr lang="en-IN" sz="52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07106B-AE08-375F-EAAA-BAC039788A1C}"/>
              </a:ext>
            </a:extLst>
          </p:cNvPr>
          <p:cNvSpPr txBox="1"/>
          <p:nvPr/>
        </p:nvSpPr>
        <p:spPr>
          <a:xfrm>
            <a:off x="8770374" y="1321356"/>
            <a:ext cx="2153265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dirty="0"/>
              <a:t>Left → Right → Root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61930D-1D33-9705-5993-A1BE2DB0F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513" y="2035740"/>
            <a:ext cx="9035926" cy="396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83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E99AF-8DA5-6ABB-A968-9B7221931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690" y="27662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Assignment: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write the solution using each order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Preorder</a:t>
            </a:r>
            <a:br>
              <a:rPr lang="en-US" dirty="0"/>
            </a:br>
            <a:r>
              <a:rPr lang="en-US" dirty="0" err="1"/>
              <a:t>Inorder</a:t>
            </a:r>
            <a:br>
              <a:rPr lang="en-US" dirty="0"/>
            </a:br>
            <a:r>
              <a:rPr lang="en-US" dirty="0" err="1"/>
              <a:t>postorder</a:t>
            </a: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879B40-E3EB-B7B9-0BDD-25F55EBE2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960" y="3184026"/>
            <a:ext cx="1124107" cy="12765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7904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B86750-F36D-2004-8B86-8141DCAC5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Recap</a:t>
            </a:r>
            <a:endParaRPr lang="en-IN" sz="360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8A546A-47A7-C201-5A56-03442ADD5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701330"/>
            <a:ext cx="6780700" cy="545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648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8F4733-A87E-F47F-128A-2978D5362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Find maximum depth of binary tree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64AFE5-E528-F463-7011-12F549C27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80934"/>
            <a:ext cx="11548872" cy="329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097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F9F2-9DF9-FB17-C07C-00AEF31A6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E41DEA-9255-E557-6997-501120D07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214" y="2023165"/>
            <a:ext cx="1571844" cy="18481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6D16E-C990-5B0B-114E-2FA54FFC8E47}"/>
              </a:ext>
            </a:extLst>
          </p:cNvPr>
          <p:cNvSpPr txBox="1"/>
          <p:nvPr/>
        </p:nvSpPr>
        <p:spPr>
          <a:xfrm>
            <a:off x="3048000" y="2023165"/>
            <a:ext cx="60960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depth(root)</a:t>
            </a:r>
          </a:p>
          <a:p>
            <a:r>
              <a:rPr lang="en-IN" b="1" dirty="0"/>
              <a:t>= 1 + max(depth(left), depth(right))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9B824D-096D-5F52-794A-730E3EE64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3129711"/>
            <a:ext cx="4420217" cy="2486372"/>
          </a:xfrm>
          <a:prstGeom prst="rect">
            <a:avLst/>
          </a:prstGeom>
        </p:spPr>
      </p:pic>
      <p:pic>
        <p:nvPicPr>
          <p:cNvPr id="10" name="Graphic 9" descr="Badge 3 with solid fill">
            <a:extLst>
              <a:ext uri="{FF2B5EF4-FFF2-40B4-BE49-F238E27FC236}">
                <a16:creationId xmlns:a16="http://schemas.microsoft.com/office/drawing/2014/main" id="{BE45A6F9-53E4-91B8-55E9-A2724C275D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22193" y="4701683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F9442C3-329C-E555-6FF9-297EB028EFB9}"/>
              </a:ext>
            </a:extLst>
          </p:cNvPr>
          <p:cNvSpPr txBox="1"/>
          <p:nvPr/>
        </p:nvSpPr>
        <p:spPr>
          <a:xfrm>
            <a:off x="9336593" y="4974217"/>
            <a:ext cx="1255472" cy="36933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b="1" dirty="0" err="1"/>
              <a:t>MaxDepth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1382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allAtOnce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1.5|1.6|1.1|0.8|0.8|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541</Words>
  <Application>Microsoft Office PowerPoint</Application>
  <PresentationFormat>Widescreen</PresentationFormat>
  <Paragraphs>113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Courier New</vt:lpstr>
      <vt:lpstr>Google Sans</vt:lpstr>
      <vt:lpstr>Office Theme</vt:lpstr>
      <vt:lpstr>Linked List, Stack, Queue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DFS (Depth First Search)</vt:lpstr>
      <vt:lpstr>BFS (Breadth First Search)</vt:lpstr>
      <vt:lpstr>BST (Binary Search Tree)</vt:lpstr>
      <vt:lpstr>Comparison</vt:lpstr>
      <vt:lpstr>PowerPoint Presentation</vt:lpstr>
      <vt:lpstr>PowerPoint Presentation</vt:lpstr>
      <vt:lpstr>PowerPoint Presentation</vt:lpstr>
      <vt:lpstr>Recursion Basics </vt:lpstr>
      <vt:lpstr>DFS Traversals (Core Skill) -Preorder</vt:lpstr>
      <vt:lpstr>DFS Traversals (Core Skill) -Inorder</vt:lpstr>
      <vt:lpstr>DFS Traversals (Core Skill) -Postorder</vt:lpstr>
      <vt:lpstr>Assignment:   write the solution using each order  Preorder Inorder postorder  </vt:lpstr>
      <vt:lpstr>Recap</vt:lpstr>
      <vt:lpstr>Find maximum depth of binary tree</vt:lpstr>
      <vt:lpstr>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Uttam Shreyakar</dc:creator>
  <cp:lastModifiedBy>Uttam Shreyakar</cp:lastModifiedBy>
  <cp:revision>11</cp:revision>
  <dcterms:created xsi:type="dcterms:W3CDTF">2026-04-23T16:09:48Z</dcterms:created>
  <dcterms:modified xsi:type="dcterms:W3CDTF">2026-04-24T16:45:26Z</dcterms:modified>
</cp:coreProperties>
</file>